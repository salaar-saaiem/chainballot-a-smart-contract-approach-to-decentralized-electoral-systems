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72" r:id="rId11"/>
    <p:sldId id="267" r:id="rId12"/>
    <p:sldId id="269" r:id="rId13"/>
    <p:sldId id="270"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17DC"/>
    <a:srgbClr val="BFF1FD"/>
    <a:srgbClr val="FF9A8F"/>
    <a:srgbClr val="66FFCC"/>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9" d="100"/>
          <a:sy n="99" d="100"/>
        </p:scale>
        <p:origin x="94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7CD9C-ECB6-441E-8623-835742CA61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EC17142-C526-4528-BA79-BCE0D00FEB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026BCE-E187-4DFB-BF66-49E9C221E651}"/>
              </a:ext>
            </a:extLst>
          </p:cNvPr>
          <p:cNvSpPr>
            <a:spLocks noGrp="1"/>
          </p:cNvSpPr>
          <p:nvPr>
            <p:ph type="dt" sz="half" idx="10"/>
          </p:nvPr>
        </p:nvSpPr>
        <p:spPr/>
        <p:txBody>
          <a:bodyPr/>
          <a:lstStyle/>
          <a:p>
            <a:fld id="{06F5452A-4327-4B5D-9AB8-E4FEC25DF3D6}" type="datetimeFigureOut">
              <a:rPr lang="en-IN" smtClean="0"/>
              <a:t>26-02-2026</a:t>
            </a:fld>
            <a:endParaRPr lang="en-IN"/>
          </a:p>
        </p:txBody>
      </p:sp>
      <p:sp>
        <p:nvSpPr>
          <p:cNvPr id="5" name="Footer Placeholder 4">
            <a:extLst>
              <a:ext uri="{FF2B5EF4-FFF2-40B4-BE49-F238E27FC236}">
                <a16:creationId xmlns:a16="http://schemas.microsoft.com/office/drawing/2014/main" id="{7E425E46-49CD-44E1-89AA-4FB263F114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27F883-A77F-4BD0-A8B0-1EB5C5412416}"/>
              </a:ext>
            </a:extLst>
          </p:cNvPr>
          <p:cNvSpPr>
            <a:spLocks noGrp="1"/>
          </p:cNvSpPr>
          <p:nvPr>
            <p:ph type="sldNum" sz="quarter" idx="12"/>
          </p:nvPr>
        </p:nvSpPr>
        <p:spPr/>
        <p:txBody>
          <a:bodyPr/>
          <a:lstStyle/>
          <a:p>
            <a:fld id="{49A7BB00-8757-491E-B7CA-D02DA1F967D2}" type="slidenum">
              <a:rPr lang="en-IN" smtClean="0"/>
              <a:t>‹#›</a:t>
            </a:fld>
            <a:endParaRPr lang="en-IN"/>
          </a:p>
        </p:txBody>
      </p:sp>
    </p:spTree>
    <p:extLst>
      <p:ext uri="{BB962C8B-B14F-4D97-AF65-F5344CB8AC3E}">
        <p14:creationId xmlns:p14="http://schemas.microsoft.com/office/powerpoint/2010/main" val="29211768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48D69-8AA8-44BE-98C7-0F8FE0322D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98AA8B2-AD98-4246-8EB1-EE0AFA361F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9E26CA-DAE4-441B-8630-01595C703652}"/>
              </a:ext>
            </a:extLst>
          </p:cNvPr>
          <p:cNvSpPr>
            <a:spLocks noGrp="1"/>
          </p:cNvSpPr>
          <p:nvPr>
            <p:ph type="dt" sz="half" idx="10"/>
          </p:nvPr>
        </p:nvSpPr>
        <p:spPr/>
        <p:txBody>
          <a:bodyPr/>
          <a:lstStyle/>
          <a:p>
            <a:fld id="{06F5452A-4327-4B5D-9AB8-E4FEC25DF3D6}" type="datetimeFigureOut">
              <a:rPr lang="en-IN" smtClean="0"/>
              <a:t>26-02-2026</a:t>
            </a:fld>
            <a:endParaRPr lang="en-IN"/>
          </a:p>
        </p:txBody>
      </p:sp>
      <p:sp>
        <p:nvSpPr>
          <p:cNvPr id="5" name="Footer Placeholder 4">
            <a:extLst>
              <a:ext uri="{FF2B5EF4-FFF2-40B4-BE49-F238E27FC236}">
                <a16:creationId xmlns:a16="http://schemas.microsoft.com/office/drawing/2014/main" id="{716E67E6-46DF-4729-B95D-117F37490C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6F24AE-D843-46B8-A93A-AA122959EB13}"/>
              </a:ext>
            </a:extLst>
          </p:cNvPr>
          <p:cNvSpPr>
            <a:spLocks noGrp="1"/>
          </p:cNvSpPr>
          <p:nvPr>
            <p:ph type="sldNum" sz="quarter" idx="12"/>
          </p:nvPr>
        </p:nvSpPr>
        <p:spPr/>
        <p:txBody>
          <a:bodyPr/>
          <a:lstStyle/>
          <a:p>
            <a:fld id="{49A7BB00-8757-491E-B7CA-D02DA1F967D2}" type="slidenum">
              <a:rPr lang="en-IN" smtClean="0"/>
              <a:t>‹#›</a:t>
            </a:fld>
            <a:endParaRPr lang="en-IN"/>
          </a:p>
        </p:txBody>
      </p:sp>
    </p:spTree>
    <p:extLst>
      <p:ext uri="{BB962C8B-B14F-4D97-AF65-F5344CB8AC3E}">
        <p14:creationId xmlns:p14="http://schemas.microsoft.com/office/powerpoint/2010/main" val="5840713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C7846-F7F3-465E-BB40-78044DF997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CAB3A56-8D6B-4115-A5C5-82F291F9BF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00A8B-E95A-44C0-8496-EC1880626ADF}"/>
              </a:ext>
            </a:extLst>
          </p:cNvPr>
          <p:cNvSpPr>
            <a:spLocks noGrp="1"/>
          </p:cNvSpPr>
          <p:nvPr>
            <p:ph type="dt" sz="half" idx="10"/>
          </p:nvPr>
        </p:nvSpPr>
        <p:spPr/>
        <p:txBody>
          <a:bodyPr/>
          <a:lstStyle/>
          <a:p>
            <a:fld id="{06F5452A-4327-4B5D-9AB8-E4FEC25DF3D6}" type="datetimeFigureOut">
              <a:rPr lang="en-IN" smtClean="0"/>
              <a:t>26-02-2026</a:t>
            </a:fld>
            <a:endParaRPr lang="en-IN"/>
          </a:p>
        </p:txBody>
      </p:sp>
      <p:sp>
        <p:nvSpPr>
          <p:cNvPr id="5" name="Footer Placeholder 4">
            <a:extLst>
              <a:ext uri="{FF2B5EF4-FFF2-40B4-BE49-F238E27FC236}">
                <a16:creationId xmlns:a16="http://schemas.microsoft.com/office/drawing/2014/main" id="{A937471A-D91C-4176-9EBD-5D7E53AC26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559398-492C-4602-8645-F1ADC9FB2812}"/>
              </a:ext>
            </a:extLst>
          </p:cNvPr>
          <p:cNvSpPr>
            <a:spLocks noGrp="1"/>
          </p:cNvSpPr>
          <p:nvPr>
            <p:ph type="sldNum" sz="quarter" idx="12"/>
          </p:nvPr>
        </p:nvSpPr>
        <p:spPr/>
        <p:txBody>
          <a:bodyPr/>
          <a:lstStyle/>
          <a:p>
            <a:fld id="{49A7BB00-8757-491E-B7CA-D02DA1F967D2}" type="slidenum">
              <a:rPr lang="en-IN" smtClean="0"/>
              <a:t>‹#›</a:t>
            </a:fld>
            <a:endParaRPr lang="en-IN"/>
          </a:p>
        </p:txBody>
      </p:sp>
    </p:spTree>
    <p:extLst>
      <p:ext uri="{BB962C8B-B14F-4D97-AF65-F5344CB8AC3E}">
        <p14:creationId xmlns:p14="http://schemas.microsoft.com/office/powerpoint/2010/main" val="264276242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8C0C3-3CD1-46B3-85D6-840BA4DA6C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1083C5-48BD-4606-9654-C745BFF923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140183C-937C-4503-8AE7-10A661E16B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4C31FCD-8839-42D0-B7C0-78AE110ECFC8}"/>
              </a:ext>
            </a:extLst>
          </p:cNvPr>
          <p:cNvSpPr>
            <a:spLocks noGrp="1"/>
          </p:cNvSpPr>
          <p:nvPr>
            <p:ph type="dt" sz="half" idx="10"/>
          </p:nvPr>
        </p:nvSpPr>
        <p:spPr/>
        <p:txBody>
          <a:bodyPr/>
          <a:lstStyle/>
          <a:p>
            <a:fld id="{06F5452A-4327-4B5D-9AB8-E4FEC25DF3D6}" type="datetimeFigureOut">
              <a:rPr lang="en-IN" smtClean="0"/>
              <a:t>26-02-2026</a:t>
            </a:fld>
            <a:endParaRPr lang="en-IN"/>
          </a:p>
        </p:txBody>
      </p:sp>
      <p:sp>
        <p:nvSpPr>
          <p:cNvPr id="6" name="Footer Placeholder 5">
            <a:extLst>
              <a:ext uri="{FF2B5EF4-FFF2-40B4-BE49-F238E27FC236}">
                <a16:creationId xmlns:a16="http://schemas.microsoft.com/office/drawing/2014/main" id="{F07720DB-8F5C-4DB2-A5FF-E387A73EC1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6FC952-CF24-4277-AAA2-8800588B55B8}"/>
              </a:ext>
            </a:extLst>
          </p:cNvPr>
          <p:cNvSpPr>
            <a:spLocks noGrp="1"/>
          </p:cNvSpPr>
          <p:nvPr>
            <p:ph type="sldNum" sz="quarter" idx="12"/>
          </p:nvPr>
        </p:nvSpPr>
        <p:spPr/>
        <p:txBody>
          <a:bodyPr/>
          <a:lstStyle/>
          <a:p>
            <a:fld id="{49A7BB00-8757-491E-B7CA-D02DA1F967D2}" type="slidenum">
              <a:rPr lang="en-IN" smtClean="0"/>
              <a:t>‹#›</a:t>
            </a:fld>
            <a:endParaRPr lang="en-IN"/>
          </a:p>
        </p:txBody>
      </p:sp>
    </p:spTree>
    <p:extLst>
      <p:ext uri="{BB962C8B-B14F-4D97-AF65-F5344CB8AC3E}">
        <p14:creationId xmlns:p14="http://schemas.microsoft.com/office/powerpoint/2010/main" val="404242672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EC9E0-27F5-45B7-8EEB-BB89932B597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E3134B7-8983-4E7F-B4A9-8265376B81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974F59-4CEE-45DD-BC85-AE054C1074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C0077F-828B-4497-9968-0D43DCBA95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33B03F-97EC-499B-AFD7-FBE7EC80FE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E267C9A-6BEA-4564-BE20-4804F7B5CE94}"/>
              </a:ext>
            </a:extLst>
          </p:cNvPr>
          <p:cNvSpPr>
            <a:spLocks noGrp="1"/>
          </p:cNvSpPr>
          <p:nvPr>
            <p:ph type="dt" sz="half" idx="10"/>
          </p:nvPr>
        </p:nvSpPr>
        <p:spPr/>
        <p:txBody>
          <a:bodyPr/>
          <a:lstStyle/>
          <a:p>
            <a:fld id="{06F5452A-4327-4B5D-9AB8-E4FEC25DF3D6}" type="datetimeFigureOut">
              <a:rPr lang="en-IN" smtClean="0"/>
              <a:t>26-02-2026</a:t>
            </a:fld>
            <a:endParaRPr lang="en-IN"/>
          </a:p>
        </p:txBody>
      </p:sp>
      <p:sp>
        <p:nvSpPr>
          <p:cNvPr id="8" name="Footer Placeholder 7">
            <a:extLst>
              <a:ext uri="{FF2B5EF4-FFF2-40B4-BE49-F238E27FC236}">
                <a16:creationId xmlns:a16="http://schemas.microsoft.com/office/drawing/2014/main" id="{5741FE1F-BA15-4443-91D4-DFA3EE11281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EDE27B9-3591-4ADC-A366-36F507E4B122}"/>
              </a:ext>
            </a:extLst>
          </p:cNvPr>
          <p:cNvSpPr>
            <a:spLocks noGrp="1"/>
          </p:cNvSpPr>
          <p:nvPr>
            <p:ph type="sldNum" sz="quarter" idx="12"/>
          </p:nvPr>
        </p:nvSpPr>
        <p:spPr/>
        <p:txBody>
          <a:bodyPr/>
          <a:lstStyle/>
          <a:p>
            <a:fld id="{49A7BB00-8757-491E-B7CA-D02DA1F967D2}" type="slidenum">
              <a:rPr lang="en-IN" smtClean="0"/>
              <a:t>‹#›</a:t>
            </a:fld>
            <a:endParaRPr lang="en-IN"/>
          </a:p>
        </p:txBody>
      </p:sp>
    </p:spTree>
    <p:extLst>
      <p:ext uri="{BB962C8B-B14F-4D97-AF65-F5344CB8AC3E}">
        <p14:creationId xmlns:p14="http://schemas.microsoft.com/office/powerpoint/2010/main" val="8301018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B8CF-71B8-40C8-A59B-AD985B50954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F29488F-A38E-401E-AD39-984724685449}"/>
              </a:ext>
            </a:extLst>
          </p:cNvPr>
          <p:cNvSpPr>
            <a:spLocks noGrp="1"/>
          </p:cNvSpPr>
          <p:nvPr>
            <p:ph type="dt" sz="half" idx="10"/>
          </p:nvPr>
        </p:nvSpPr>
        <p:spPr/>
        <p:txBody>
          <a:bodyPr/>
          <a:lstStyle/>
          <a:p>
            <a:fld id="{06F5452A-4327-4B5D-9AB8-E4FEC25DF3D6}" type="datetimeFigureOut">
              <a:rPr lang="en-IN" smtClean="0"/>
              <a:t>26-02-2026</a:t>
            </a:fld>
            <a:endParaRPr lang="en-IN"/>
          </a:p>
        </p:txBody>
      </p:sp>
      <p:sp>
        <p:nvSpPr>
          <p:cNvPr id="4" name="Footer Placeholder 3">
            <a:extLst>
              <a:ext uri="{FF2B5EF4-FFF2-40B4-BE49-F238E27FC236}">
                <a16:creationId xmlns:a16="http://schemas.microsoft.com/office/drawing/2014/main" id="{A3CA1383-1B18-4DC9-B89C-C379CEAF3B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A29A7E7-35D9-4FDA-888C-37A31B50753D}"/>
              </a:ext>
            </a:extLst>
          </p:cNvPr>
          <p:cNvSpPr>
            <a:spLocks noGrp="1"/>
          </p:cNvSpPr>
          <p:nvPr>
            <p:ph type="sldNum" sz="quarter" idx="12"/>
          </p:nvPr>
        </p:nvSpPr>
        <p:spPr/>
        <p:txBody>
          <a:bodyPr/>
          <a:lstStyle/>
          <a:p>
            <a:fld id="{49A7BB00-8757-491E-B7CA-D02DA1F967D2}" type="slidenum">
              <a:rPr lang="en-IN" smtClean="0"/>
              <a:t>‹#›</a:t>
            </a:fld>
            <a:endParaRPr lang="en-IN"/>
          </a:p>
        </p:txBody>
      </p:sp>
    </p:spTree>
    <p:extLst>
      <p:ext uri="{BB962C8B-B14F-4D97-AF65-F5344CB8AC3E}">
        <p14:creationId xmlns:p14="http://schemas.microsoft.com/office/powerpoint/2010/main" val="17020098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0542D8-DEE6-4512-BAEB-AD0AC4067B99}"/>
              </a:ext>
            </a:extLst>
          </p:cNvPr>
          <p:cNvSpPr>
            <a:spLocks noGrp="1"/>
          </p:cNvSpPr>
          <p:nvPr>
            <p:ph type="dt" sz="half" idx="10"/>
          </p:nvPr>
        </p:nvSpPr>
        <p:spPr/>
        <p:txBody>
          <a:bodyPr/>
          <a:lstStyle/>
          <a:p>
            <a:fld id="{06F5452A-4327-4B5D-9AB8-E4FEC25DF3D6}" type="datetimeFigureOut">
              <a:rPr lang="en-IN" smtClean="0"/>
              <a:t>26-02-2026</a:t>
            </a:fld>
            <a:endParaRPr lang="en-IN"/>
          </a:p>
        </p:txBody>
      </p:sp>
      <p:sp>
        <p:nvSpPr>
          <p:cNvPr id="3" name="Footer Placeholder 2">
            <a:extLst>
              <a:ext uri="{FF2B5EF4-FFF2-40B4-BE49-F238E27FC236}">
                <a16:creationId xmlns:a16="http://schemas.microsoft.com/office/drawing/2014/main" id="{B5AA59B0-285F-4D33-A43D-10FFFDA2168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BE0C1D8-12AD-4B33-A906-DA044A4C8661}"/>
              </a:ext>
            </a:extLst>
          </p:cNvPr>
          <p:cNvSpPr>
            <a:spLocks noGrp="1"/>
          </p:cNvSpPr>
          <p:nvPr>
            <p:ph type="sldNum" sz="quarter" idx="12"/>
          </p:nvPr>
        </p:nvSpPr>
        <p:spPr/>
        <p:txBody>
          <a:bodyPr/>
          <a:lstStyle/>
          <a:p>
            <a:fld id="{49A7BB00-8757-491E-B7CA-D02DA1F967D2}" type="slidenum">
              <a:rPr lang="en-IN" smtClean="0"/>
              <a:t>‹#›</a:t>
            </a:fld>
            <a:endParaRPr lang="en-IN"/>
          </a:p>
        </p:txBody>
      </p:sp>
    </p:spTree>
    <p:extLst>
      <p:ext uri="{BB962C8B-B14F-4D97-AF65-F5344CB8AC3E}">
        <p14:creationId xmlns:p14="http://schemas.microsoft.com/office/powerpoint/2010/main" val="26711087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CBC4C-564B-4B9A-82B0-1E2EEAFBF6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6FD2BDC-E6D1-4128-9D22-37E3A322BD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18DDD8-9865-4647-8A75-C69DCEBBA4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5C8941-B095-44C4-BF4D-4C96945413DC}"/>
              </a:ext>
            </a:extLst>
          </p:cNvPr>
          <p:cNvSpPr>
            <a:spLocks noGrp="1"/>
          </p:cNvSpPr>
          <p:nvPr>
            <p:ph type="dt" sz="half" idx="10"/>
          </p:nvPr>
        </p:nvSpPr>
        <p:spPr/>
        <p:txBody>
          <a:bodyPr/>
          <a:lstStyle/>
          <a:p>
            <a:fld id="{06F5452A-4327-4B5D-9AB8-E4FEC25DF3D6}" type="datetimeFigureOut">
              <a:rPr lang="en-IN" smtClean="0"/>
              <a:t>26-02-2026</a:t>
            </a:fld>
            <a:endParaRPr lang="en-IN"/>
          </a:p>
        </p:txBody>
      </p:sp>
      <p:sp>
        <p:nvSpPr>
          <p:cNvPr id="6" name="Footer Placeholder 5">
            <a:extLst>
              <a:ext uri="{FF2B5EF4-FFF2-40B4-BE49-F238E27FC236}">
                <a16:creationId xmlns:a16="http://schemas.microsoft.com/office/drawing/2014/main" id="{D280BB97-A91A-492B-9A1B-761172E5D2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F20900-41F2-4BBB-A54B-AF8ECACE5B6E}"/>
              </a:ext>
            </a:extLst>
          </p:cNvPr>
          <p:cNvSpPr>
            <a:spLocks noGrp="1"/>
          </p:cNvSpPr>
          <p:nvPr>
            <p:ph type="sldNum" sz="quarter" idx="12"/>
          </p:nvPr>
        </p:nvSpPr>
        <p:spPr/>
        <p:txBody>
          <a:bodyPr/>
          <a:lstStyle/>
          <a:p>
            <a:fld id="{49A7BB00-8757-491E-B7CA-D02DA1F967D2}" type="slidenum">
              <a:rPr lang="en-IN" smtClean="0"/>
              <a:t>‹#›</a:t>
            </a:fld>
            <a:endParaRPr lang="en-IN"/>
          </a:p>
        </p:txBody>
      </p:sp>
    </p:spTree>
    <p:extLst>
      <p:ext uri="{BB962C8B-B14F-4D97-AF65-F5344CB8AC3E}">
        <p14:creationId xmlns:p14="http://schemas.microsoft.com/office/powerpoint/2010/main" val="4025630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4819C-5C43-40C3-A77C-AD8C4475D7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8B7C6A-0C9F-4D74-B284-572613A4C2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C75E9C-9FFD-4671-9744-9692A6A492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6283B7-19B6-4596-95C9-5D862ACEFFBD}"/>
              </a:ext>
            </a:extLst>
          </p:cNvPr>
          <p:cNvSpPr>
            <a:spLocks noGrp="1"/>
          </p:cNvSpPr>
          <p:nvPr>
            <p:ph type="dt" sz="half" idx="10"/>
          </p:nvPr>
        </p:nvSpPr>
        <p:spPr/>
        <p:txBody>
          <a:bodyPr/>
          <a:lstStyle/>
          <a:p>
            <a:fld id="{06F5452A-4327-4B5D-9AB8-E4FEC25DF3D6}" type="datetimeFigureOut">
              <a:rPr lang="en-IN" smtClean="0"/>
              <a:t>26-02-2026</a:t>
            </a:fld>
            <a:endParaRPr lang="en-IN"/>
          </a:p>
        </p:txBody>
      </p:sp>
      <p:sp>
        <p:nvSpPr>
          <p:cNvPr id="6" name="Footer Placeholder 5">
            <a:extLst>
              <a:ext uri="{FF2B5EF4-FFF2-40B4-BE49-F238E27FC236}">
                <a16:creationId xmlns:a16="http://schemas.microsoft.com/office/drawing/2014/main" id="{C0A87ABE-20A6-4DEE-BBC0-04C6273430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BC18C3-4355-457B-8DC3-0D3C3B614E79}"/>
              </a:ext>
            </a:extLst>
          </p:cNvPr>
          <p:cNvSpPr>
            <a:spLocks noGrp="1"/>
          </p:cNvSpPr>
          <p:nvPr>
            <p:ph type="sldNum" sz="quarter" idx="12"/>
          </p:nvPr>
        </p:nvSpPr>
        <p:spPr/>
        <p:txBody>
          <a:bodyPr/>
          <a:lstStyle/>
          <a:p>
            <a:fld id="{49A7BB00-8757-491E-B7CA-D02DA1F967D2}" type="slidenum">
              <a:rPr lang="en-IN" smtClean="0"/>
              <a:t>‹#›</a:t>
            </a:fld>
            <a:endParaRPr lang="en-IN"/>
          </a:p>
        </p:txBody>
      </p:sp>
    </p:spTree>
    <p:extLst>
      <p:ext uri="{BB962C8B-B14F-4D97-AF65-F5344CB8AC3E}">
        <p14:creationId xmlns:p14="http://schemas.microsoft.com/office/powerpoint/2010/main" val="1338848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4060-A9E8-4507-B2C6-06C3F184D6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E10447-75B7-473E-B98A-E47264BA32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6280FD-C121-45F0-BC7A-05874C77A004}"/>
              </a:ext>
            </a:extLst>
          </p:cNvPr>
          <p:cNvSpPr>
            <a:spLocks noGrp="1"/>
          </p:cNvSpPr>
          <p:nvPr>
            <p:ph type="dt" sz="half" idx="10"/>
          </p:nvPr>
        </p:nvSpPr>
        <p:spPr/>
        <p:txBody>
          <a:bodyPr/>
          <a:lstStyle/>
          <a:p>
            <a:fld id="{06F5452A-4327-4B5D-9AB8-E4FEC25DF3D6}" type="datetimeFigureOut">
              <a:rPr lang="en-IN" smtClean="0"/>
              <a:t>26-02-2026</a:t>
            </a:fld>
            <a:endParaRPr lang="en-IN"/>
          </a:p>
        </p:txBody>
      </p:sp>
      <p:sp>
        <p:nvSpPr>
          <p:cNvPr id="5" name="Footer Placeholder 4">
            <a:extLst>
              <a:ext uri="{FF2B5EF4-FFF2-40B4-BE49-F238E27FC236}">
                <a16:creationId xmlns:a16="http://schemas.microsoft.com/office/drawing/2014/main" id="{58F91FCB-8ECA-4B40-948E-9ABE026BCE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92628D-98AC-4D16-90C2-6B0C49F0B317}"/>
              </a:ext>
            </a:extLst>
          </p:cNvPr>
          <p:cNvSpPr>
            <a:spLocks noGrp="1"/>
          </p:cNvSpPr>
          <p:nvPr>
            <p:ph type="sldNum" sz="quarter" idx="12"/>
          </p:nvPr>
        </p:nvSpPr>
        <p:spPr/>
        <p:txBody>
          <a:bodyPr/>
          <a:lstStyle/>
          <a:p>
            <a:fld id="{49A7BB00-8757-491E-B7CA-D02DA1F967D2}" type="slidenum">
              <a:rPr lang="en-IN" smtClean="0"/>
              <a:t>‹#›</a:t>
            </a:fld>
            <a:endParaRPr lang="en-IN"/>
          </a:p>
        </p:txBody>
      </p:sp>
    </p:spTree>
    <p:extLst>
      <p:ext uri="{BB962C8B-B14F-4D97-AF65-F5344CB8AC3E}">
        <p14:creationId xmlns:p14="http://schemas.microsoft.com/office/powerpoint/2010/main" val="3701197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329079-5B5D-478C-9BE8-FB6F5009E1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A4E42C-97F1-4BE3-B8E0-0A2DB6920C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4AADCF-E3E7-4E23-9024-E877FF80A96C}"/>
              </a:ext>
            </a:extLst>
          </p:cNvPr>
          <p:cNvSpPr>
            <a:spLocks noGrp="1"/>
          </p:cNvSpPr>
          <p:nvPr>
            <p:ph type="dt" sz="half" idx="10"/>
          </p:nvPr>
        </p:nvSpPr>
        <p:spPr/>
        <p:txBody>
          <a:bodyPr/>
          <a:lstStyle/>
          <a:p>
            <a:fld id="{06F5452A-4327-4B5D-9AB8-E4FEC25DF3D6}" type="datetimeFigureOut">
              <a:rPr lang="en-IN" smtClean="0"/>
              <a:t>26-02-2026</a:t>
            </a:fld>
            <a:endParaRPr lang="en-IN"/>
          </a:p>
        </p:txBody>
      </p:sp>
      <p:sp>
        <p:nvSpPr>
          <p:cNvPr id="5" name="Footer Placeholder 4">
            <a:extLst>
              <a:ext uri="{FF2B5EF4-FFF2-40B4-BE49-F238E27FC236}">
                <a16:creationId xmlns:a16="http://schemas.microsoft.com/office/drawing/2014/main" id="{0E6CE8B1-14CD-4719-B376-E5A7D50DBD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89A942-9D24-4928-9AD3-2345FC23818A}"/>
              </a:ext>
            </a:extLst>
          </p:cNvPr>
          <p:cNvSpPr>
            <a:spLocks noGrp="1"/>
          </p:cNvSpPr>
          <p:nvPr>
            <p:ph type="sldNum" sz="quarter" idx="12"/>
          </p:nvPr>
        </p:nvSpPr>
        <p:spPr/>
        <p:txBody>
          <a:bodyPr/>
          <a:lstStyle/>
          <a:p>
            <a:fld id="{49A7BB00-8757-491E-B7CA-D02DA1F967D2}" type="slidenum">
              <a:rPr lang="en-IN" smtClean="0"/>
              <a:t>‹#›</a:t>
            </a:fld>
            <a:endParaRPr lang="en-IN"/>
          </a:p>
        </p:txBody>
      </p:sp>
    </p:spTree>
    <p:extLst>
      <p:ext uri="{BB962C8B-B14F-4D97-AF65-F5344CB8AC3E}">
        <p14:creationId xmlns:p14="http://schemas.microsoft.com/office/powerpoint/2010/main" val="1457922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B423E8-BF3D-4950-9E52-FDC259B0F5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DBA5650-2521-4F3F-B134-A6FD19226E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06E816-0B27-4478-9416-8068E4C99E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F5452A-4327-4B5D-9AB8-E4FEC25DF3D6}" type="datetimeFigureOut">
              <a:rPr lang="en-IN" smtClean="0"/>
              <a:t>26-02-2026</a:t>
            </a:fld>
            <a:endParaRPr lang="en-IN"/>
          </a:p>
        </p:txBody>
      </p:sp>
      <p:sp>
        <p:nvSpPr>
          <p:cNvPr id="5" name="Footer Placeholder 4">
            <a:extLst>
              <a:ext uri="{FF2B5EF4-FFF2-40B4-BE49-F238E27FC236}">
                <a16:creationId xmlns:a16="http://schemas.microsoft.com/office/drawing/2014/main" id="{E2577427-6948-493D-8360-5F70925F06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478653B-2233-411F-B3AB-1B2D5A1CA0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A7BB00-8757-491E-B7CA-D02DA1F967D2}" type="slidenum">
              <a:rPr lang="en-IN" smtClean="0"/>
              <a:t>‹#›</a:t>
            </a:fld>
            <a:endParaRPr lang="en-IN"/>
          </a:p>
        </p:txBody>
      </p:sp>
    </p:spTree>
    <p:extLst>
      <p:ext uri="{BB962C8B-B14F-4D97-AF65-F5344CB8AC3E}">
        <p14:creationId xmlns:p14="http://schemas.microsoft.com/office/powerpoint/2010/main" val="2529319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bitcoin.org/bitcoin.pdf"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7;p2">
            <a:extLst>
              <a:ext uri="{FF2B5EF4-FFF2-40B4-BE49-F238E27FC236}">
                <a16:creationId xmlns:a16="http://schemas.microsoft.com/office/drawing/2014/main" id="{F9D4CCE7-E0DC-4BA7-998B-0829A64A13D0}"/>
              </a:ext>
            </a:extLst>
          </p:cNvPr>
          <p:cNvSpPr/>
          <p:nvPr/>
        </p:nvSpPr>
        <p:spPr>
          <a:xfrm>
            <a:off x="3970175" y="3625876"/>
            <a:ext cx="3733800" cy="338700"/>
          </a:xfrm>
          <a:prstGeom prst="rect">
            <a:avLst/>
          </a:prstGeom>
          <a:noFill/>
          <a:ln>
            <a:noFill/>
          </a:ln>
        </p:spPr>
        <p:txBody>
          <a:bodyPr spcFirstLastPara="1" wrap="square" lIns="91425" tIns="45700" rIns="91425" bIns="45700" anchor="t" anchorCtr="0">
            <a:noAutofit/>
          </a:bodyPr>
          <a:lstStyle/>
          <a:p>
            <a:pPr marL="639762" marR="0" lvl="0" indent="-519112" algn="ctr"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6" name="Google Shape;48;p2">
            <a:extLst>
              <a:ext uri="{FF2B5EF4-FFF2-40B4-BE49-F238E27FC236}">
                <a16:creationId xmlns:a16="http://schemas.microsoft.com/office/drawing/2014/main" id="{FB4A2E31-27EA-4B7B-81C3-9DCB09E5A947}"/>
              </a:ext>
            </a:extLst>
          </p:cNvPr>
          <p:cNvSpPr txBox="1">
            <a:spLocks/>
          </p:cNvSpPr>
          <p:nvPr/>
        </p:nvSpPr>
        <p:spPr>
          <a:xfrm>
            <a:off x="1722875" y="2175016"/>
            <a:ext cx="8609400" cy="1785104"/>
          </a:xfrm>
          <a:prstGeom prst="rect">
            <a:avLst/>
          </a:prstGeom>
          <a:noFill/>
          <a:ln>
            <a:noFill/>
          </a:ln>
        </p:spPr>
        <p:txBody>
          <a:bodyPr spcFirstLastPara="1" vert="horz" wrap="square" lIns="0" tIns="0" rIns="0" bIns="0" rtlCol="0" anchor="t" anchorCtr="0">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spcBef>
                <a:spcPts val="0"/>
              </a:spcBef>
              <a:buSzPts val="1400"/>
            </a:pPr>
            <a:r>
              <a:rPr lang="en-US" sz="4400" b="1" dirty="0" err="1">
                <a:ln w="13462">
                  <a:solidFill>
                    <a:schemeClr val="accent5">
                      <a:lumMod val="20000"/>
                      <a:lumOff val="80000"/>
                    </a:schemeClr>
                  </a:solidFill>
                  <a:prstDash val="solid"/>
                </a:ln>
                <a:solidFill>
                  <a:srgbClr val="002060"/>
                </a:solidFill>
                <a:effectLst>
                  <a:glow rad="63500">
                    <a:schemeClr val="accent5">
                      <a:satMod val="175000"/>
                      <a:alpha val="40000"/>
                    </a:schemeClr>
                  </a:glow>
                  <a:outerShdw dist="38100" dir="2700000" algn="bl" rotWithShape="0">
                    <a:schemeClr val="accent5"/>
                  </a:outerShdw>
                </a:effectLst>
                <a:latin typeface="Times New Roman"/>
                <a:ea typeface="Times New Roman"/>
                <a:cs typeface="Times New Roman"/>
                <a:sym typeface="Times New Roman"/>
              </a:rPr>
              <a:t>ChainBallot</a:t>
            </a:r>
            <a:r>
              <a:rPr lang="en-US" sz="4400" b="1" dirty="0">
                <a:ln w="13462">
                  <a:solidFill>
                    <a:schemeClr val="accent5">
                      <a:lumMod val="20000"/>
                      <a:lumOff val="80000"/>
                    </a:schemeClr>
                  </a:solidFill>
                  <a:prstDash val="solid"/>
                </a:ln>
                <a:solidFill>
                  <a:srgbClr val="002060"/>
                </a:solidFill>
                <a:effectLst>
                  <a:glow rad="63500">
                    <a:schemeClr val="accent5">
                      <a:satMod val="175000"/>
                      <a:alpha val="40000"/>
                    </a:schemeClr>
                  </a:glow>
                  <a:outerShdw dist="38100" dir="2700000" algn="bl" rotWithShape="0">
                    <a:schemeClr val="accent5"/>
                  </a:outerShdw>
                </a:effectLst>
                <a:latin typeface="Times New Roman"/>
                <a:ea typeface="Times New Roman"/>
                <a:cs typeface="Times New Roman"/>
                <a:sym typeface="Times New Roman"/>
              </a:rPr>
              <a:t>  </a:t>
            </a:r>
          </a:p>
          <a:p>
            <a:pPr>
              <a:lnSpc>
                <a:spcPct val="100000"/>
              </a:lnSpc>
              <a:spcBef>
                <a:spcPts val="0"/>
              </a:spcBef>
              <a:buSzPts val="1400"/>
            </a:pPr>
            <a:r>
              <a:rPr lang="en-US" sz="3600" dirty="0">
                <a:solidFill>
                  <a:srgbClr val="073763"/>
                </a:solidFill>
                <a:latin typeface="Times New Roman"/>
                <a:ea typeface="Times New Roman"/>
                <a:cs typeface="Times New Roman"/>
                <a:sym typeface="Times New Roman"/>
              </a:rPr>
              <a:t>‘A Smart Contract Approach to Decentralized Electoral Systems’</a:t>
            </a:r>
            <a:endParaRPr lang="en-US" b="1" dirty="0">
              <a:solidFill>
                <a:srgbClr val="073763"/>
              </a:solidFill>
              <a:latin typeface="Times New Roman"/>
              <a:ea typeface="Times New Roman"/>
              <a:cs typeface="Times New Roman"/>
              <a:sym typeface="Times New Roman"/>
            </a:endParaRPr>
          </a:p>
        </p:txBody>
      </p:sp>
      <p:sp>
        <p:nvSpPr>
          <p:cNvPr id="7" name="Google Shape;49;p2">
            <a:extLst>
              <a:ext uri="{FF2B5EF4-FFF2-40B4-BE49-F238E27FC236}">
                <a16:creationId xmlns:a16="http://schemas.microsoft.com/office/drawing/2014/main" id="{639D336B-E367-47FA-9CAD-10A280DB7DFF}"/>
              </a:ext>
            </a:extLst>
          </p:cNvPr>
          <p:cNvSpPr txBox="1"/>
          <p:nvPr/>
        </p:nvSpPr>
        <p:spPr>
          <a:xfrm>
            <a:off x="2278358" y="4169162"/>
            <a:ext cx="7496700" cy="19235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i="1" dirty="0">
                <a:latin typeface="Times New Roman"/>
                <a:ea typeface="Times New Roman"/>
                <a:cs typeface="Times New Roman"/>
                <a:sym typeface="Times New Roman"/>
              </a:rPr>
              <a:t>Presented by</a:t>
            </a:r>
          </a:p>
          <a:p>
            <a:pPr marL="0" marR="0" lvl="0" indent="0" algn="ctr" rtl="0">
              <a:spcBef>
                <a:spcPts val="0"/>
              </a:spcBef>
              <a:spcAft>
                <a:spcPts val="0"/>
              </a:spcAft>
              <a:buNone/>
            </a:pPr>
            <a:r>
              <a:rPr lang="en-US" sz="1600" b="1" dirty="0">
                <a:latin typeface="Times New Roman"/>
                <a:ea typeface="Times New Roman"/>
                <a:cs typeface="Times New Roman"/>
                <a:sym typeface="Times New Roman"/>
              </a:rPr>
              <a:t>Shaikh Saaiem Salaar - 221846</a:t>
            </a:r>
          </a:p>
          <a:p>
            <a:pPr algn="ctr"/>
            <a:r>
              <a:rPr lang="en-US" sz="1600" b="1" dirty="0">
                <a:latin typeface="Times New Roman"/>
                <a:ea typeface="Times New Roman"/>
                <a:cs typeface="Times New Roman"/>
                <a:sym typeface="Times New Roman"/>
              </a:rPr>
              <a:t>Kumayl Sayed – 221838</a:t>
            </a:r>
          </a:p>
          <a:p>
            <a:pPr algn="ctr"/>
            <a:r>
              <a:rPr lang="en-US" sz="1600" b="1" dirty="0">
                <a:latin typeface="Times New Roman"/>
                <a:ea typeface="Times New Roman"/>
                <a:cs typeface="Times New Roman"/>
                <a:sym typeface="Times New Roman"/>
              </a:rPr>
              <a:t>Altamash </a:t>
            </a:r>
            <a:r>
              <a:rPr lang="en-US" sz="1600" b="1" dirty="0" err="1">
                <a:latin typeface="Times New Roman"/>
                <a:ea typeface="Times New Roman"/>
                <a:cs typeface="Times New Roman"/>
                <a:sym typeface="Times New Roman"/>
              </a:rPr>
              <a:t>Shamoil</a:t>
            </a:r>
            <a:r>
              <a:rPr lang="en-US" sz="1600" b="1" dirty="0">
                <a:latin typeface="Times New Roman"/>
                <a:ea typeface="Times New Roman"/>
                <a:cs typeface="Times New Roman"/>
                <a:sym typeface="Times New Roman"/>
              </a:rPr>
              <a:t> - 221847</a:t>
            </a:r>
          </a:p>
          <a:p>
            <a:pPr marL="0" marR="0" lvl="0" indent="0" algn="ctr" rtl="0">
              <a:spcBef>
                <a:spcPts val="0"/>
              </a:spcBef>
              <a:spcAft>
                <a:spcPts val="0"/>
              </a:spcAft>
              <a:buNone/>
            </a:pPr>
            <a:endParaRPr sz="800" b="1" dirty="0">
              <a:latin typeface="Times New Roman"/>
              <a:ea typeface="Times New Roman"/>
              <a:cs typeface="Times New Roman"/>
              <a:sym typeface="Times New Roman"/>
            </a:endParaRPr>
          </a:p>
          <a:p>
            <a:pPr marL="0" marR="0" lvl="0" indent="0" algn="ctr" rtl="0">
              <a:spcBef>
                <a:spcPts val="0"/>
              </a:spcBef>
              <a:spcAft>
                <a:spcPts val="0"/>
              </a:spcAft>
              <a:buNone/>
            </a:pPr>
            <a:r>
              <a:rPr lang="en-IN" sz="1400" i="1" dirty="0">
                <a:latin typeface="Times New Roman"/>
                <a:ea typeface="Times New Roman"/>
                <a:cs typeface="Times New Roman"/>
                <a:sym typeface="Times New Roman"/>
              </a:rPr>
              <a:t>Under the guidance of </a:t>
            </a:r>
            <a:endParaRPr lang="en-IN" sz="1600" b="1" dirty="0">
              <a:latin typeface="Times New Roman"/>
              <a:ea typeface="Times New Roman"/>
              <a:cs typeface="Times New Roman"/>
              <a:sym typeface="Times New Roman"/>
            </a:endParaRPr>
          </a:p>
          <a:p>
            <a:pPr marL="0" marR="0" lvl="0" indent="0" algn="ctr" rtl="0">
              <a:spcBef>
                <a:spcPts val="0"/>
              </a:spcBef>
              <a:spcAft>
                <a:spcPts val="0"/>
              </a:spcAft>
              <a:buNone/>
            </a:pPr>
            <a:r>
              <a:rPr lang="en-IN" sz="1600" b="1" dirty="0">
                <a:latin typeface="Times New Roman"/>
                <a:ea typeface="Times New Roman"/>
                <a:cs typeface="Times New Roman"/>
                <a:sym typeface="Times New Roman"/>
              </a:rPr>
              <a:t>Mehek Qureshi</a:t>
            </a:r>
          </a:p>
          <a:p>
            <a:pPr marL="0" marR="0" lvl="0" indent="0" algn="ctr" rtl="0">
              <a:lnSpc>
                <a:spcPct val="100000"/>
              </a:lnSpc>
              <a:spcBef>
                <a:spcPts val="0"/>
              </a:spcBef>
              <a:spcAft>
                <a:spcPts val="0"/>
              </a:spcAft>
              <a:buNone/>
            </a:pPr>
            <a:endParaRPr lang="en-IN" sz="1600" b="1" dirty="0">
              <a:latin typeface="Times New Roman"/>
              <a:ea typeface="Times New Roman"/>
              <a:cs typeface="Times New Roman"/>
              <a:sym typeface="Times New Roman"/>
            </a:endParaRPr>
          </a:p>
        </p:txBody>
      </p:sp>
      <p:sp>
        <p:nvSpPr>
          <p:cNvPr id="8" name="Google Shape;50;p2">
            <a:extLst>
              <a:ext uri="{FF2B5EF4-FFF2-40B4-BE49-F238E27FC236}">
                <a16:creationId xmlns:a16="http://schemas.microsoft.com/office/drawing/2014/main" id="{BC1FEB7F-5F39-4C4E-88C8-4C88B46308D1}"/>
              </a:ext>
            </a:extLst>
          </p:cNvPr>
          <p:cNvSpPr txBox="1"/>
          <p:nvPr/>
        </p:nvSpPr>
        <p:spPr>
          <a:xfrm>
            <a:off x="4334266" y="686364"/>
            <a:ext cx="3384884" cy="135417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i="0" u="none" strike="noStrike" cap="none" dirty="0">
                <a:solidFill>
                  <a:srgbClr val="000000"/>
                </a:solidFill>
                <a:latin typeface="Times New Roman"/>
                <a:ea typeface="Times New Roman"/>
                <a:cs typeface="Times New Roman"/>
                <a:sym typeface="Times New Roman"/>
              </a:rPr>
              <a:t>Project Presentation</a:t>
            </a:r>
          </a:p>
          <a:p>
            <a:pPr marL="0" marR="0" lvl="0" indent="0" algn="ctr" rtl="0">
              <a:lnSpc>
                <a:spcPct val="100000"/>
              </a:lnSpc>
              <a:spcBef>
                <a:spcPts val="0"/>
              </a:spcBef>
              <a:spcAft>
                <a:spcPts val="0"/>
              </a:spcAft>
              <a:buNone/>
            </a:pPr>
            <a:r>
              <a:rPr lang="en-US" i="1" dirty="0">
                <a:solidFill>
                  <a:srgbClr val="000000"/>
                </a:solidFill>
                <a:latin typeface="Times New Roman"/>
                <a:cs typeface="Times New Roman"/>
                <a:sym typeface="Times New Roman"/>
              </a:rPr>
              <a:t>on</a:t>
            </a:r>
            <a:endParaRPr i="1" dirty="0"/>
          </a:p>
        </p:txBody>
      </p:sp>
      <p:grpSp>
        <p:nvGrpSpPr>
          <p:cNvPr id="15" name="Group 14">
            <a:extLst>
              <a:ext uri="{FF2B5EF4-FFF2-40B4-BE49-F238E27FC236}">
                <a16:creationId xmlns:a16="http://schemas.microsoft.com/office/drawing/2014/main" id="{C1B2DA2E-EE36-4681-A6EA-E6FE4B307A30}"/>
              </a:ext>
            </a:extLst>
          </p:cNvPr>
          <p:cNvGrpSpPr/>
          <p:nvPr/>
        </p:nvGrpSpPr>
        <p:grpSpPr>
          <a:xfrm>
            <a:off x="-10160" y="5946690"/>
            <a:ext cx="12207699" cy="882978"/>
            <a:chOff x="-10160" y="5638921"/>
            <a:chExt cx="12207699" cy="1086057"/>
          </a:xfrm>
        </p:grpSpPr>
        <p:cxnSp>
          <p:nvCxnSpPr>
            <p:cNvPr id="11" name="Straight Connector 10">
              <a:extLst>
                <a:ext uri="{FF2B5EF4-FFF2-40B4-BE49-F238E27FC236}">
                  <a16:creationId xmlns:a16="http://schemas.microsoft.com/office/drawing/2014/main" id="{3079CF1F-33F7-4A1C-8E07-D7820F5EB47E}"/>
                </a:ext>
              </a:extLst>
            </p:cNvPr>
            <p:cNvCxnSpPr>
              <a:cxnSpLocks/>
            </p:cNvCxnSpPr>
            <p:nvPr/>
          </p:nvCxnSpPr>
          <p:spPr>
            <a:xfrm>
              <a:off x="-10160" y="5638921"/>
              <a:ext cx="1220769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E1F4198C-4CCA-4F33-BFDF-33243E5EF290}"/>
                </a:ext>
              </a:extLst>
            </p:cNvPr>
            <p:cNvGrpSpPr/>
            <p:nvPr/>
          </p:nvGrpSpPr>
          <p:grpSpPr>
            <a:xfrm>
              <a:off x="1789931" y="5718176"/>
              <a:ext cx="8612137" cy="1006802"/>
              <a:chOff x="1217226" y="5598336"/>
              <a:chExt cx="8612137" cy="1006802"/>
            </a:xfrm>
          </p:grpSpPr>
          <p:sp>
            <p:nvSpPr>
              <p:cNvPr id="4" name="Google Shape;46;p2">
                <a:extLst>
                  <a:ext uri="{FF2B5EF4-FFF2-40B4-BE49-F238E27FC236}">
                    <a16:creationId xmlns:a16="http://schemas.microsoft.com/office/drawing/2014/main" id="{13FF8971-8BB0-4254-A004-1E7AEFD31F78}"/>
                  </a:ext>
                </a:extLst>
              </p:cNvPr>
              <p:cNvSpPr txBox="1"/>
              <p:nvPr/>
            </p:nvSpPr>
            <p:spPr>
              <a:xfrm>
                <a:off x="1844787" y="5927387"/>
                <a:ext cx="7984576" cy="3487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600" b="1" i="1" u="none" strike="noStrike" cap="none" dirty="0">
                    <a:latin typeface="Times New Roman"/>
                    <a:ea typeface="Times New Roman"/>
                    <a:cs typeface="Times New Roman"/>
                    <a:sym typeface="Times New Roman"/>
                  </a:rPr>
                  <a:t>Department of Computer Science &amp; Engineering</a:t>
                </a:r>
                <a:r>
                  <a:rPr lang="en-US" sz="1600" b="1" i="1" dirty="0">
                    <a:latin typeface="Times New Roman"/>
                    <a:ea typeface="Times New Roman"/>
                    <a:cs typeface="Times New Roman"/>
                    <a:sym typeface="Times New Roman"/>
                  </a:rPr>
                  <a:t> (</a:t>
                </a:r>
                <a:r>
                  <a:rPr lang="en-US" sz="1600" b="1" i="1" dirty="0" err="1">
                    <a:latin typeface="Times New Roman"/>
                    <a:ea typeface="Times New Roman"/>
                    <a:cs typeface="Times New Roman"/>
                    <a:sym typeface="Times New Roman"/>
                  </a:rPr>
                  <a:t>IoTCSBCT</a:t>
                </a:r>
                <a:r>
                  <a:rPr lang="en-US" sz="1600" b="1" i="1" dirty="0">
                    <a:latin typeface="Times New Roman"/>
                    <a:ea typeface="Times New Roman"/>
                    <a:cs typeface="Times New Roman"/>
                    <a:sym typeface="Times New Roman"/>
                  </a:rPr>
                  <a:t>), MHSSCE, Mumbai</a:t>
                </a:r>
                <a:endParaRPr sz="1600" b="1" i="1" u="none" strike="noStrike" cap="none" dirty="0">
                  <a:latin typeface="Times New Roman"/>
                  <a:ea typeface="Times New Roman"/>
                  <a:cs typeface="Times New Roman"/>
                  <a:sym typeface="Times New Roman"/>
                </a:endParaRPr>
              </a:p>
            </p:txBody>
          </p:sp>
          <p:pic>
            <p:nvPicPr>
              <p:cNvPr id="1032" name="Picture 8" descr="EOTY(Engineer Of The Year) – MHSSCOE ACM CHAPTER">
                <a:extLst>
                  <a:ext uri="{FF2B5EF4-FFF2-40B4-BE49-F238E27FC236}">
                    <a16:creationId xmlns:a16="http://schemas.microsoft.com/office/drawing/2014/main" id="{6AB0C0B4-E7BD-4DB0-8EFF-75EA7CC9AE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226" y="5598336"/>
                <a:ext cx="1011297" cy="1006802"/>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827094928"/>
      </p:ext>
    </p:extLst>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5E9EA-D951-4A93-A461-B0F7333A5200}"/>
              </a:ext>
            </a:extLst>
          </p:cNvPr>
          <p:cNvSpPr>
            <a:spLocks noGrp="1"/>
          </p:cNvSpPr>
          <p:nvPr>
            <p:ph type="title"/>
          </p:nvPr>
        </p:nvSpPr>
        <p:spPr>
          <a:xfrm>
            <a:off x="838200" y="353217"/>
            <a:ext cx="10515600" cy="1325563"/>
          </a:xfrm>
        </p:spPr>
        <p:txBody>
          <a:bodyPr>
            <a:normAutofit/>
          </a:bodyPr>
          <a:lstStyle/>
          <a:p>
            <a:pPr algn="ctr"/>
            <a:r>
              <a:rPr lang="en-US" b="1" dirty="0">
                <a:ln w="12700">
                  <a:solidFill>
                    <a:srgbClr val="002060"/>
                  </a:solidFill>
                  <a:prstDash val="solid"/>
                </a:ln>
                <a:solidFill>
                  <a:srgbClr val="002060"/>
                </a:solidFill>
                <a:effectLst>
                  <a:glow rad="63500">
                    <a:schemeClr val="accent5">
                      <a:satMod val="175000"/>
                      <a:alpha val="40000"/>
                    </a:schemeClr>
                  </a:glow>
                </a:effectLst>
                <a:sym typeface="Times New Roman"/>
              </a:rPr>
              <a:t>Outline</a:t>
            </a:r>
            <a:endParaRPr lang="en-IN" b="1" dirty="0">
              <a:ln w="12700">
                <a:solidFill>
                  <a:srgbClr val="002060"/>
                </a:solidFill>
                <a:prstDash val="solid"/>
              </a:ln>
              <a:solidFill>
                <a:srgbClr val="002060"/>
              </a:solidFill>
              <a:effectLst>
                <a:glow rad="63500">
                  <a:schemeClr val="accent5">
                    <a:satMod val="175000"/>
                    <a:alpha val="40000"/>
                  </a:schemeClr>
                </a:glow>
              </a:effectLst>
            </a:endParaRPr>
          </a:p>
        </p:txBody>
      </p:sp>
      <p:sp>
        <p:nvSpPr>
          <p:cNvPr id="3" name="Content Placeholder 2">
            <a:extLst>
              <a:ext uri="{FF2B5EF4-FFF2-40B4-BE49-F238E27FC236}">
                <a16:creationId xmlns:a16="http://schemas.microsoft.com/office/drawing/2014/main" id="{702D9FD9-E25F-471B-952F-9AB546A17B02}"/>
              </a:ext>
            </a:extLst>
          </p:cNvPr>
          <p:cNvSpPr>
            <a:spLocks noGrp="1"/>
          </p:cNvSpPr>
          <p:nvPr>
            <p:ph idx="1"/>
          </p:nvPr>
        </p:nvSpPr>
        <p:spPr>
          <a:xfrm>
            <a:off x="838200" y="2061711"/>
            <a:ext cx="4888832" cy="2981124"/>
          </a:xfrm>
        </p:spPr>
        <p:txBody>
          <a:bodyPr>
            <a:normAutofit/>
          </a:bodyPr>
          <a:lstStyle/>
          <a:p>
            <a:pPr marL="514350" indent="-514350">
              <a:buFont typeface="+mj-lt"/>
              <a:buAutoNum type="arabicPeriod"/>
            </a:pPr>
            <a:r>
              <a:rPr lang="en-IN" sz="2900"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sz="2900" dirty="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IN" sz="2900" dirty="0">
                <a:latin typeface="Times New Roman" panose="02020603050405020304" pitchFamily="18" charset="0"/>
                <a:cs typeface="Times New Roman" panose="02020603050405020304" pitchFamily="18" charset="0"/>
              </a:rPr>
              <a:t>Objectives</a:t>
            </a:r>
          </a:p>
          <a:p>
            <a:pPr marL="514350" indent="-514350">
              <a:buFont typeface="+mj-lt"/>
              <a:buAutoNum type="arabicPeriod"/>
            </a:pPr>
            <a:r>
              <a:rPr lang="en-IN" sz="2900" dirty="0">
                <a:latin typeface="Times New Roman" panose="02020603050405020304" pitchFamily="18" charset="0"/>
                <a:cs typeface="Times New Roman" panose="02020603050405020304" pitchFamily="18" charset="0"/>
              </a:rPr>
              <a:t>Summary of Work done </a:t>
            </a:r>
          </a:p>
          <a:p>
            <a:pPr marL="514350" indent="-514350">
              <a:buFont typeface="+mj-lt"/>
              <a:buAutoNum type="arabicPeriod"/>
            </a:pPr>
            <a:r>
              <a:rPr lang="en-IN" sz="2900" dirty="0">
                <a:latin typeface="Times New Roman" panose="02020603050405020304" pitchFamily="18" charset="0"/>
                <a:cs typeface="Times New Roman" panose="02020603050405020304" pitchFamily="18" charset="0"/>
              </a:rPr>
              <a:t>Literature Review </a:t>
            </a:r>
          </a:p>
        </p:txBody>
      </p:sp>
      <p:grpSp>
        <p:nvGrpSpPr>
          <p:cNvPr id="9" name="Group 8">
            <a:extLst>
              <a:ext uri="{FF2B5EF4-FFF2-40B4-BE49-F238E27FC236}">
                <a16:creationId xmlns:a16="http://schemas.microsoft.com/office/drawing/2014/main" id="{6CBE8EAA-5D95-4717-AFD8-9DD4ECF979DF}"/>
              </a:ext>
            </a:extLst>
          </p:cNvPr>
          <p:cNvGrpSpPr/>
          <p:nvPr/>
        </p:nvGrpSpPr>
        <p:grpSpPr>
          <a:xfrm>
            <a:off x="-10160" y="5842000"/>
            <a:ext cx="12207699" cy="882978"/>
            <a:chOff x="-10160" y="5638921"/>
            <a:chExt cx="12207699" cy="1086057"/>
          </a:xfrm>
        </p:grpSpPr>
        <p:cxnSp>
          <p:nvCxnSpPr>
            <p:cNvPr id="10" name="Straight Connector 9">
              <a:extLst>
                <a:ext uri="{FF2B5EF4-FFF2-40B4-BE49-F238E27FC236}">
                  <a16:creationId xmlns:a16="http://schemas.microsoft.com/office/drawing/2014/main" id="{96617ED3-12EF-4A9B-A3CD-F3D8F92305A4}"/>
                </a:ext>
              </a:extLst>
            </p:cNvPr>
            <p:cNvCxnSpPr>
              <a:cxnSpLocks/>
            </p:cNvCxnSpPr>
            <p:nvPr/>
          </p:nvCxnSpPr>
          <p:spPr>
            <a:xfrm>
              <a:off x="-10160" y="5638921"/>
              <a:ext cx="12207699"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A5123E7A-0582-4E70-812E-F33075865EB2}"/>
                </a:ext>
              </a:extLst>
            </p:cNvPr>
            <p:cNvGrpSpPr/>
            <p:nvPr/>
          </p:nvGrpSpPr>
          <p:grpSpPr>
            <a:xfrm>
              <a:off x="1789931" y="5718176"/>
              <a:ext cx="8612137" cy="1006802"/>
              <a:chOff x="1217226" y="5598336"/>
              <a:chExt cx="8612137" cy="1006802"/>
            </a:xfrm>
          </p:grpSpPr>
          <p:sp>
            <p:nvSpPr>
              <p:cNvPr id="12" name="Google Shape;46;p2">
                <a:extLst>
                  <a:ext uri="{FF2B5EF4-FFF2-40B4-BE49-F238E27FC236}">
                    <a16:creationId xmlns:a16="http://schemas.microsoft.com/office/drawing/2014/main" id="{7DC6CC70-23E9-4B9A-98F8-3DF4D2CBF019}"/>
                  </a:ext>
                </a:extLst>
              </p:cNvPr>
              <p:cNvSpPr txBox="1"/>
              <p:nvPr/>
            </p:nvSpPr>
            <p:spPr>
              <a:xfrm>
                <a:off x="1844787" y="5927387"/>
                <a:ext cx="7984576" cy="3487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600" b="1" i="1" u="none" strike="noStrike" cap="none" dirty="0">
                    <a:solidFill>
                      <a:srgbClr val="002060"/>
                    </a:solidFill>
                    <a:latin typeface="Times New Roman"/>
                    <a:ea typeface="Times New Roman"/>
                    <a:cs typeface="Times New Roman"/>
                    <a:sym typeface="Times New Roman"/>
                  </a:rPr>
                  <a:t>Department of Computer Science &amp; Engineering</a:t>
                </a:r>
                <a:r>
                  <a:rPr lang="en-US" sz="1600" b="1" i="1" dirty="0">
                    <a:solidFill>
                      <a:srgbClr val="002060"/>
                    </a:solidFill>
                    <a:latin typeface="Times New Roman"/>
                    <a:ea typeface="Times New Roman"/>
                    <a:cs typeface="Times New Roman"/>
                    <a:sym typeface="Times New Roman"/>
                  </a:rPr>
                  <a:t> (</a:t>
                </a:r>
                <a:r>
                  <a:rPr lang="en-US" sz="1600" b="1" i="1" dirty="0" err="1">
                    <a:solidFill>
                      <a:srgbClr val="002060"/>
                    </a:solidFill>
                    <a:latin typeface="Times New Roman"/>
                    <a:ea typeface="Times New Roman"/>
                    <a:cs typeface="Times New Roman"/>
                    <a:sym typeface="Times New Roman"/>
                  </a:rPr>
                  <a:t>IoTCSBCT</a:t>
                </a:r>
                <a:r>
                  <a:rPr lang="en-US" sz="1600" b="1" i="1" dirty="0">
                    <a:solidFill>
                      <a:srgbClr val="002060"/>
                    </a:solidFill>
                    <a:latin typeface="Times New Roman"/>
                    <a:ea typeface="Times New Roman"/>
                    <a:cs typeface="Times New Roman"/>
                    <a:sym typeface="Times New Roman"/>
                  </a:rPr>
                  <a:t>), MHSSCE, Mumbai</a:t>
                </a:r>
                <a:endParaRPr sz="1600" b="1" i="1" u="none" strike="noStrike" cap="none" dirty="0">
                  <a:solidFill>
                    <a:srgbClr val="002060"/>
                  </a:solidFill>
                  <a:latin typeface="Times New Roman"/>
                  <a:ea typeface="Times New Roman"/>
                  <a:cs typeface="Times New Roman"/>
                  <a:sym typeface="Times New Roman"/>
                </a:endParaRPr>
              </a:p>
            </p:txBody>
          </p:sp>
          <p:pic>
            <p:nvPicPr>
              <p:cNvPr id="13" name="Picture 8" descr="EOTY(Engineer Of The Year) – MHSSCOE ACM CHAPTER">
                <a:extLst>
                  <a:ext uri="{FF2B5EF4-FFF2-40B4-BE49-F238E27FC236}">
                    <a16:creationId xmlns:a16="http://schemas.microsoft.com/office/drawing/2014/main" id="{01F5170B-F4F2-48A1-9B25-90390E2317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226" y="5598336"/>
                <a:ext cx="1011297" cy="1006802"/>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4" name="Content Placeholder 2">
            <a:extLst>
              <a:ext uri="{FF2B5EF4-FFF2-40B4-BE49-F238E27FC236}">
                <a16:creationId xmlns:a16="http://schemas.microsoft.com/office/drawing/2014/main" id="{D55A4808-ACCA-0B93-675B-A63E8046FF9D}"/>
              </a:ext>
            </a:extLst>
          </p:cNvPr>
          <p:cNvSpPr txBox="1">
            <a:spLocks/>
          </p:cNvSpPr>
          <p:nvPr/>
        </p:nvSpPr>
        <p:spPr>
          <a:xfrm>
            <a:off x="6852403" y="2022645"/>
            <a:ext cx="4888832" cy="32519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6"/>
            </a:pPr>
            <a:r>
              <a:rPr lang="en-IN" sz="2900" dirty="0">
                <a:latin typeface="Times New Roman" panose="02020603050405020304" pitchFamily="18" charset="0"/>
                <a:cs typeface="Times New Roman" panose="02020603050405020304" pitchFamily="18" charset="0"/>
              </a:rPr>
              <a:t>Proposed framework</a:t>
            </a:r>
          </a:p>
          <a:p>
            <a:pPr marL="514350" indent="-514350">
              <a:buFont typeface="+mj-lt"/>
              <a:buAutoNum type="arabicPeriod" startAt="6"/>
            </a:pPr>
            <a:r>
              <a:rPr lang="en-IN" sz="2900" dirty="0">
                <a:latin typeface="Times New Roman" panose="02020603050405020304" pitchFamily="18" charset="0"/>
                <a:cs typeface="Times New Roman" panose="02020603050405020304" pitchFamily="18" charset="0"/>
              </a:rPr>
              <a:t>Methodology</a:t>
            </a:r>
          </a:p>
          <a:p>
            <a:pPr marL="514350" indent="-514350">
              <a:buFont typeface="+mj-lt"/>
              <a:buAutoNum type="arabicPeriod" startAt="6"/>
            </a:pPr>
            <a:r>
              <a:rPr lang="en-IN" sz="2900" dirty="0">
                <a:latin typeface="Times New Roman" panose="02020603050405020304" pitchFamily="18" charset="0"/>
                <a:cs typeface="Times New Roman" panose="02020603050405020304" pitchFamily="18" charset="0"/>
              </a:rPr>
              <a:t>Results</a:t>
            </a:r>
          </a:p>
          <a:p>
            <a:pPr marL="514350" indent="-514350">
              <a:buFont typeface="+mj-lt"/>
              <a:buAutoNum type="arabicPeriod" startAt="6"/>
            </a:pPr>
            <a:r>
              <a:rPr lang="en-IN" sz="2900" dirty="0">
                <a:latin typeface="Times New Roman" panose="02020603050405020304" pitchFamily="18" charset="0"/>
                <a:cs typeface="Times New Roman" panose="02020603050405020304" pitchFamily="18" charset="0"/>
              </a:rPr>
              <a:t>Conclusion</a:t>
            </a:r>
          </a:p>
          <a:p>
            <a:pPr marL="514350" indent="-514350">
              <a:buFont typeface="+mj-lt"/>
              <a:buAutoNum type="arabicPeriod" startAt="6"/>
            </a:pPr>
            <a:r>
              <a:rPr lang="en-IN" sz="2900" dirty="0">
                <a:latin typeface="Times New Roman" panose="02020603050405020304" pitchFamily="18" charset="0"/>
                <a:cs typeface="Times New Roman" panose="02020603050405020304" pitchFamily="18" charset="0"/>
              </a:rPr>
              <a:t>References in IEEE format</a:t>
            </a:r>
          </a:p>
          <a:p>
            <a:pPr marL="514350" indent="-514350">
              <a:buFont typeface="+mj-lt"/>
              <a:buAutoNum type="arabicPeriod" startAt="6"/>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4237853"/>
      </p:ext>
    </p:extLst>
  </p:cSld>
  <p:clrMapOvr>
    <a:masterClrMapping/>
  </p:clrMapOvr>
  <mc:AlternateContent xmlns:mc="http://schemas.openxmlformats.org/markup-compatibility/2006" xmlns:p15="http://schemas.microsoft.com/office/powerpoint/2012/main">
    <mc:Choice Requires="p15">
      <p:transition spd="slow">
        <p15:prstTrans prst="prestig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24CB9-E754-4DC2-A5AF-AC1DA408DEE5}"/>
              </a:ext>
            </a:extLst>
          </p:cNvPr>
          <p:cNvSpPr>
            <a:spLocks noGrp="1"/>
          </p:cNvSpPr>
          <p:nvPr>
            <p:ph type="title"/>
          </p:nvPr>
        </p:nvSpPr>
        <p:spPr>
          <a:xfrm>
            <a:off x="838200" y="353217"/>
            <a:ext cx="10515600" cy="1325563"/>
          </a:xfrm>
        </p:spPr>
        <p:txBody>
          <a:bodyPr/>
          <a:lstStyle/>
          <a:p>
            <a:pPr algn="ctr"/>
            <a:r>
              <a:rPr lang="en-US" b="1" dirty="0">
                <a:ln w="12700">
                  <a:solidFill>
                    <a:srgbClr val="002060"/>
                  </a:solidFill>
                  <a:prstDash val="solid"/>
                </a:ln>
                <a:solidFill>
                  <a:srgbClr val="002060"/>
                </a:solidFill>
                <a:effectLst>
                  <a:glow rad="63500">
                    <a:schemeClr val="accent5">
                      <a:satMod val="175000"/>
                      <a:alpha val="40000"/>
                    </a:schemeClr>
                  </a:glow>
                </a:effectLst>
              </a:rPr>
              <a:t>INTRODUCTION</a:t>
            </a:r>
            <a:endParaRPr lang="en-IN" b="1" dirty="0">
              <a:ln w="12700">
                <a:solidFill>
                  <a:srgbClr val="002060"/>
                </a:solidFill>
                <a:prstDash val="solid"/>
              </a:ln>
              <a:solidFill>
                <a:srgbClr val="002060"/>
              </a:solidFill>
              <a:effectLst>
                <a:glow rad="63500">
                  <a:schemeClr val="accent5">
                    <a:satMod val="175000"/>
                    <a:alpha val="40000"/>
                  </a:schemeClr>
                </a:glow>
              </a:effectLst>
            </a:endParaRPr>
          </a:p>
        </p:txBody>
      </p:sp>
      <p:sp>
        <p:nvSpPr>
          <p:cNvPr id="3" name="Content Placeholder 2">
            <a:extLst>
              <a:ext uri="{FF2B5EF4-FFF2-40B4-BE49-F238E27FC236}">
                <a16:creationId xmlns:a16="http://schemas.microsoft.com/office/drawing/2014/main" id="{474D176B-6BE1-4AE1-9354-F8CA8FE573B9}"/>
              </a:ext>
            </a:extLst>
          </p:cNvPr>
          <p:cNvSpPr>
            <a:spLocks noGrp="1"/>
          </p:cNvSpPr>
          <p:nvPr>
            <p:ph idx="1"/>
          </p:nvPr>
        </p:nvSpPr>
        <p:spPr>
          <a:xfrm>
            <a:off x="838200" y="1825625"/>
            <a:ext cx="10515600" cy="3748852"/>
          </a:xfrm>
        </p:spPr>
        <p:txBody>
          <a:bodyPr>
            <a:normAutofit fontScale="92500" lnSpcReduction="20000"/>
          </a:bodyPr>
          <a:lstStyle/>
          <a:p>
            <a:pPr marL="0" indent="0" algn="ctr">
              <a:buNone/>
            </a:pPr>
            <a:r>
              <a:rPr lang="en-US" dirty="0"/>
              <a:t>Traditional voting systems often face challenges such as lack of transparency, security risks, and dependency on centralized authorities.</a:t>
            </a:r>
          </a:p>
          <a:p>
            <a:pPr marL="0" indent="0" algn="ctr">
              <a:buNone/>
            </a:pPr>
            <a:endParaRPr lang="en-US" dirty="0"/>
          </a:p>
          <a:p>
            <a:pPr marL="0" indent="0" algn="ctr">
              <a:buNone/>
            </a:pPr>
            <a:r>
              <a:rPr lang="en-US" dirty="0"/>
              <a:t>This project introduces </a:t>
            </a:r>
            <a:r>
              <a:rPr lang="en-US" b="1" dirty="0"/>
              <a:t>A Smart Contract Approach to Decentralized Electoral Systems</a:t>
            </a:r>
            <a:r>
              <a:rPr lang="en-US" dirty="0"/>
              <a:t>, designed to provide a secure, transparent, and tamper-proof digital election platform.</a:t>
            </a:r>
          </a:p>
          <a:p>
            <a:pPr marL="0" indent="0" algn="ctr">
              <a:buNone/>
            </a:pPr>
            <a:endParaRPr lang="en-US" dirty="0"/>
          </a:p>
          <a:p>
            <a:pPr marL="0" indent="0" algn="ctr">
              <a:buNone/>
            </a:pPr>
            <a:r>
              <a:rPr lang="en-US" dirty="0"/>
              <a:t>By leveraging </a:t>
            </a:r>
            <a:r>
              <a:rPr lang="en-US" b="1" dirty="0"/>
              <a:t>smart contracts and blockchain technology</a:t>
            </a:r>
            <a:r>
              <a:rPr lang="en-US" dirty="0"/>
              <a:t>, the system ensures fairness, immutability, and trust, without the need for intermediaries.</a:t>
            </a:r>
          </a:p>
          <a:p>
            <a:pPr marL="0" indent="0" algn="ctr">
              <a:buNone/>
            </a:pPr>
            <a:endParaRPr lang="en-IN" dirty="0"/>
          </a:p>
        </p:txBody>
      </p:sp>
      <p:grpSp>
        <p:nvGrpSpPr>
          <p:cNvPr id="19" name="Group 18">
            <a:extLst>
              <a:ext uri="{FF2B5EF4-FFF2-40B4-BE49-F238E27FC236}">
                <a16:creationId xmlns:a16="http://schemas.microsoft.com/office/drawing/2014/main" id="{0FF08DAB-3F20-4602-948E-7ABBA8CBD2D0}"/>
              </a:ext>
            </a:extLst>
          </p:cNvPr>
          <p:cNvGrpSpPr/>
          <p:nvPr/>
        </p:nvGrpSpPr>
        <p:grpSpPr>
          <a:xfrm>
            <a:off x="-10160" y="5842000"/>
            <a:ext cx="12207699" cy="882978"/>
            <a:chOff x="-10160" y="5638921"/>
            <a:chExt cx="12207699" cy="1086057"/>
          </a:xfrm>
        </p:grpSpPr>
        <p:cxnSp>
          <p:nvCxnSpPr>
            <p:cNvPr id="20" name="Straight Connector 19">
              <a:extLst>
                <a:ext uri="{FF2B5EF4-FFF2-40B4-BE49-F238E27FC236}">
                  <a16:creationId xmlns:a16="http://schemas.microsoft.com/office/drawing/2014/main" id="{17323744-CA41-4C4D-BCDB-8449E74415C0}"/>
                </a:ext>
              </a:extLst>
            </p:cNvPr>
            <p:cNvCxnSpPr>
              <a:cxnSpLocks/>
            </p:cNvCxnSpPr>
            <p:nvPr/>
          </p:nvCxnSpPr>
          <p:spPr>
            <a:xfrm>
              <a:off x="-10160" y="5638921"/>
              <a:ext cx="12207699"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BD3FE4C0-16B1-4185-96E2-054F802B3D49}"/>
                </a:ext>
              </a:extLst>
            </p:cNvPr>
            <p:cNvGrpSpPr/>
            <p:nvPr/>
          </p:nvGrpSpPr>
          <p:grpSpPr>
            <a:xfrm>
              <a:off x="1789931" y="5718176"/>
              <a:ext cx="8612137" cy="1006802"/>
              <a:chOff x="1217226" y="5598336"/>
              <a:chExt cx="8612137" cy="1006802"/>
            </a:xfrm>
          </p:grpSpPr>
          <p:pic>
            <p:nvPicPr>
              <p:cNvPr id="23" name="Picture 8" descr="EOTY(Engineer Of The Year) – MHSSCOE ACM CHAPTER">
                <a:extLst>
                  <a:ext uri="{FF2B5EF4-FFF2-40B4-BE49-F238E27FC236}">
                    <a16:creationId xmlns:a16="http://schemas.microsoft.com/office/drawing/2014/main" id="{9DA69526-D3AF-4273-A699-259E6C1EE2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226" y="5598336"/>
                <a:ext cx="1011297" cy="1006802"/>
              </a:xfrm>
              <a:prstGeom prst="rect">
                <a:avLst/>
              </a:prstGeom>
              <a:noFill/>
              <a:extLst>
                <a:ext uri="{909E8E84-426E-40DD-AFC4-6F175D3DCCD1}">
                  <a14:hiddenFill xmlns:a14="http://schemas.microsoft.com/office/drawing/2010/main">
                    <a:solidFill>
                      <a:srgbClr val="FFFFFF"/>
                    </a:solidFill>
                  </a14:hiddenFill>
                </a:ext>
              </a:extLst>
            </p:spPr>
          </p:pic>
          <p:sp>
            <p:nvSpPr>
              <p:cNvPr id="22" name="Google Shape;46;p2">
                <a:extLst>
                  <a:ext uri="{FF2B5EF4-FFF2-40B4-BE49-F238E27FC236}">
                    <a16:creationId xmlns:a16="http://schemas.microsoft.com/office/drawing/2014/main" id="{2AA62C1D-BF97-46F1-8AB1-3A4669339D00}"/>
                  </a:ext>
                </a:extLst>
              </p:cNvPr>
              <p:cNvSpPr txBox="1"/>
              <p:nvPr/>
            </p:nvSpPr>
            <p:spPr>
              <a:xfrm>
                <a:off x="1844787" y="5927387"/>
                <a:ext cx="7984576" cy="3487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600" b="1" i="1" u="none" strike="noStrike" cap="none" dirty="0">
                    <a:solidFill>
                      <a:srgbClr val="002060"/>
                    </a:solidFill>
                    <a:latin typeface="Times New Roman"/>
                    <a:ea typeface="Times New Roman"/>
                    <a:cs typeface="Times New Roman"/>
                    <a:sym typeface="Times New Roman"/>
                  </a:rPr>
                  <a:t>Department of Computer Science &amp; Engineering</a:t>
                </a:r>
                <a:r>
                  <a:rPr lang="en-US" sz="1600" b="1" i="1" dirty="0">
                    <a:solidFill>
                      <a:srgbClr val="002060"/>
                    </a:solidFill>
                    <a:latin typeface="Times New Roman"/>
                    <a:ea typeface="Times New Roman"/>
                    <a:cs typeface="Times New Roman"/>
                    <a:sym typeface="Times New Roman"/>
                  </a:rPr>
                  <a:t> (</a:t>
                </a:r>
                <a:r>
                  <a:rPr lang="en-US" sz="1600" b="1" i="1" dirty="0" err="1">
                    <a:solidFill>
                      <a:srgbClr val="002060"/>
                    </a:solidFill>
                    <a:latin typeface="Times New Roman"/>
                    <a:ea typeface="Times New Roman"/>
                    <a:cs typeface="Times New Roman"/>
                    <a:sym typeface="Times New Roman"/>
                  </a:rPr>
                  <a:t>IoTCSBCT</a:t>
                </a:r>
                <a:r>
                  <a:rPr lang="en-US" sz="1600" b="1" i="1" dirty="0">
                    <a:solidFill>
                      <a:srgbClr val="002060"/>
                    </a:solidFill>
                    <a:latin typeface="Times New Roman"/>
                    <a:ea typeface="Times New Roman"/>
                    <a:cs typeface="Times New Roman"/>
                    <a:sym typeface="Times New Roman"/>
                  </a:rPr>
                  <a:t>), MHSSCE, Mumbai</a:t>
                </a:r>
                <a:endParaRPr sz="1600" b="1" i="1" u="none" strike="noStrike" cap="none" dirty="0">
                  <a:solidFill>
                    <a:srgbClr val="002060"/>
                  </a:solidFill>
                  <a:latin typeface="Times New Roman"/>
                  <a:ea typeface="Times New Roman"/>
                  <a:cs typeface="Times New Roman"/>
                  <a:sym typeface="Times New Roman"/>
                </a:endParaRPr>
              </a:p>
            </p:txBody>
          </p:sp>
        </p:grpSp>
      </p:grpSp>
    </p:spTree>
    <p:extLst>
      <p:ext uri="{BB962C8B-B14F-4D97-AF65-F5344CB8AC3E}">
        <p14:creationId xmlns:p14="http://schemas.microsoft.com/office/powerpoint/2010/main" val="1348599800"/>
      </p:ext>
    </p:extLst>
  </p:cSld>
  <p:clrMapOvr>
    <a:masterClrMapping/>
  </p:clrMapOvr>
  <mc:AlternateContent xmlns:mc="http://schemas.openxmlformats.org/markup-compatibility/2006" xmlns:p14="http://schemas.microsoft.com/office/powerpoint/2010/main">
    <mc:Choice Requires="p14">
      <p:transition spd="slow" p14:dur="1250">
        <p:blinds dir="vert"/>
      </p:transition>
    </mc:Choice>
    <mc:Fallback xmlns="">
      <p:transition spd="slow">
        <p:blinds dir="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24CB9-E754-4DC2-A5AF-AC1DA408DEE5}"/>
              </a:ext>
            </a:extLst>
          </p:cNvPr>
          <p:cNvSpPr>
            <a:spLocks noGrp="1"/>
          </p:cNvSpPr>
          <p:nvPr>
            <p:ph type="title"/>
          </p:nvPr>
        </p:nvSpPr>
        <p:spPr/>
        <p:txBody>
          <a:bodyPr>
            <a:normAutofit/>
          </a:bodyPr>
          <a:lstStyle/>
          <a:p>
            <a:pPr algn="ctr"/>
            <a:r>
              <a:rPr lang="en-US" b="1" dirty="0">
                <a:ln w="12700">
                  <a:solidFill>
                    <a:srgbClr val="002060"/>
                  </a:solidFill>
                  <a:prstDash val="solid"/>
                </a:ln>
                <a:solidFill>
                  <a:srgbClr val="002060"/>
                </a:solidFill>
                <a:effectLst>
                  <a:glow rad="63500">
                    <a:schemeClr val="accent5">
                      <a:satMod val="175000"/>
                      <a:alpha val="40000"/>
                    </a:schemeClr>
                  </a:glow>
                </a:effectLst>
                <a:sym typeface="Times New Roman"/>
              </a:rPr>
              <a:t>Problem Statement </a:t>
            </a:r>
            <a:endParaRPr lang="en-IN" b="1" dirty="0">
              <a:ln w="12700">
                <a:solidFill>
                  <a:srgbClr val="002060"/>
                </a:solidFill>
                <a:prstDash val="solid"/>
              </a:ln>
              <a:solidFill>
                <a:srgbClr val="002060"/>
              </a:solidFill>
              <a:effectLst>
                <a:glow rad="63500">
                  <a:schemeClr val="accent5">
                    <a:satMod val="175000"/>
                    <a:alpha val="40000"/>
                  </a:schemeClr>
                </a:glow>
              </a:effectLst>
            </a:endParaRPr>
          </a:p>
        </p:txBody>
      </p:sp>
      <p:sp>
        <p:nvSpPr>
          <p:cNvPr id="3" name="Content Placeholder 2">
            <a:extLst>
              <a:ext uri="{FF2B5EF4-FFF2-40B4-BE49-F238E27FC236}">
                <a16:creationId xmlns:a16="http://schemas.microsoft.com/office/drawing/2014/main" id="{474D176B-6BE1-4AE1-9354-F8CA8FE573B9}"/>
              </a:ext>
            </a:extLst>
          </p:cNvPr>
          <p:cNvSpPr>
            <a:spLocks noGrp="1"/>
          </p:cNvSpPr>
          <p:nvPr>
            <p:ph idx="1"/>
          </p:nvPr>
        </p:nvSpPr>
        <p:spPr>
          <a:xfrm>
            <a:off x="838200" y="1825625"/>
            <a:ext cx="10515600" cy="3935094"/>
          </a:xfrm>
        </p:spPr>
        <p:txBody>
          <a:bodyPr>
            <a:normAutofit/>
          </a:bodyPr>
          <a:lstStyle/>
          <a:p>
            <a:pPr marL="0" indent="0" algn="ctr">
              <a:buNone/>
            </a:pPr>
            <a:endParaRPr lang="en-US" dirty="0"/>
          </a:p>
          <a:p>
            <a:pPr marL="0" indent="0" algn="ctr">
              <a:buNone/>
            </a:pPr>
            <a:endParaRPr lang="en-US" dirty="0"/>
          </a:p>
          <a:p>
            <a:pPr marL="0" indent="0" algn="ctr">
              <a:buNone/>
            </a:pPr>
            <a:r>
              <a:rPr lang="en-US" dirty="0"/>
              <a:t>Traditional voting systems lack transparency, security, and resistance to tampering, creating the need for a reliable and trustless digital electoral solution.</a:t>
            </a:r>
          </a:p>
          <a:p>
            <a:pPr marL="0" indent="0" algn="ctr">
              <a:buNone/>
            </a:pPr>
            <a:endParaRPr lang="en-IN" dirty="0">
              <a:latin typeface="Times New Roman" panose="02020603050405020304" pitchFamily="18" charset="0"/>
              <a:cs typeface="Times New Roman" panose="02020603050405020304" pitchFamily="18" charset="0"/>
            </a:endParaRPr>
          </a:p>
        </p:txBody>
      </p:sp>
      <p:grpSp>
        <p:nvGrpSpPr>
          <p:cNvPr id="19" name="Group 18">
            <a:extLst>
              <a:ext uri="{FF2B5EF4-FFF2-40B4-BE49-F238E27FC236}">
                <a16:creationId xmlns:a16="http://schemas.microsoft.com/office/drawing/2014/main" id="{6EFCE533-9871-488E-A3D2-FDCC7A8349FD}"/>
              </a:ext>
            </a:extLst>
          </p:cNvPr>
          <p:cNvGrpSpPr/>
          <p:nvPr/>
        </p:nvGrpSpPr>
        <p:grpSpPr>
          <a:xfrm>
            <a:off x="-10160" y="5842000"/>
            <a:ext cx="12207699" cy="882978"/>
            <a:chOff x="-10160" y="5638921"/>
            <a:chExt cx="12207699" cy="1086057"/>
          </a:xfrm>
        </p:grpSpPr>
        <p:cxnSp>
          <p:nvCxnSpPr>
            <p:cNvPr id="20" name="Straight Connector 19">
              <a:extLst>
                <a:ext uri="{FF2B5EF4-FFF2-40B4-BE49-F238E27FC236}">
                  <a16:creationId xmlns:a16="http://schemas.microsoft.com/office/drawing/2014/main" id="{23900070-1D64-475F-BE4D-4FE69BAF02C6}"/>
                </a:ext>
              </a:extLst>
            </p:cNvPr>
            <p:cNvCxnSpPr>
              <a:cxnSpLocks/>
            </p:cNvCxnSpPr>
            <p:nvPr/>
          </p:nvCxnSpPr>
          <p:spPr>
            <a:xfrm>
              <a:off x="-10160" y="5638921"/>
              <a:ext cx="12207699"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3369FFBB-AE19-48DC-B536-0FCAC072CF84}"/>
                </a:ext>
              </a:extLst>
            </p:cNvPr>
            <p:cNvGrpSpPr/>
            <p:nvPr/>
          </p:nvGrpSpPr>
          <p:grpSpPr>
            <a:xfrm>
              <a:off x="1789931" y="5718176"/>
              <a:ext cx="8612137" cy="1006802"/>
              <a:chOff x="1217226" y="5598336"/>
              <a:chExt cx="8612137" cy="1006802"/>
            </a:xfrm>
          </p:grpSpPr>
          <p:sp>
            <p:nvSpPr>
              <p:cNvPr id="22" name="Google Shape;46;p2">
                <a:extLst>
                  <a:ext uri="{FF2B5EF4-FFF2-40B4-BE49-F238E27FC236}">
                    <a16:creationId xmlns:a16="http://schemas.microsoft.com/office/drawing/2014/main" id="{3C709196-364D-491D-9774-ED04003DF36E}"/>
                  </a:ext>
                </a:extLst>
              </p:cNvPr>
              <p:cNvSpPr txBox="1"/>
              <p:nvPr/>
            </p:nvSpPr>
            <p:spPr>
              <a:xfrm>
                <a:off x="1844787" y="5927387"/>
                <a:ext cx="7984576" cy="3487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600" b="1" i="1" u="none" strike="noStrike" cap="none" dirty="0">
                    <a:solidFill>
                      <a:srgbClr val="002060"/>
                    </a:solidFill>
                    <a:latin typeface="Times New Roman"/>
                    <a:ea typeface="Times New Roman"/>
                    <a:cs typeface="Times New Roman"/>
                    <a:sym typeface="Times New Roman"/>
                  </a:rPr>
                  <a:t>Department of Computer Science &amp; Engineering</a:t>
                </a:r>
                <a:r>
                  <a:rPr lang="en-US" sz="1600" b="1" i="1" dirty="0">
                    <a:solidFill>
                      <a:srgbClr val="002060"/>
                    </a:solidFill>
                    <a:latin typeface="Times New Roman"/>
                    <a:ea typeface="Times New Roman"/>
                    <a:cs typeface="Times New Roman"/>
                    <a:sym typeface="Times New Roman"/>
                  </a:rPr>
                  <a:t> (</a:t>
                </a:r>
                <a:r>
                  <a:rPr lang="en-US" sz="1600" b="1" i="1" dirty="0" err="1">
                    <a:solidFill>
                      <a:srgbClr val="002060"/>
                    </a:solidFill>
                    <a:latin typeface="Times New Roman"/>
                    <a:ea typeface="Times New Roman"/>
                    <a:cs typeface="Times New Roman"/>
                    <a:sym typeface="Times New Roman"/>
                  </a:rPr>
                  <a:t>IoTCSBCT</a:t>
                </a:r>
                <a:r>
                  <a:rPr lang="en-US" sz="1600" b="1" i="1" dirty="0">
                    <a:solidFill>
                      <a:srgbClr val="002060"/>
                    </a:solidFill>
                    <a:latin typeface="Times New Roman"/>
                    <a:ea typeface="Times New Roman"/>
                    <a:cs typeface="Times New Roman"/>
                    <a:sym typeface="Times New Roman"/>
                  </a:rPr>
                  <a:t>), MHSSCE, Mumbai</a:t>
                </a:r>
                <a:endParaRPr sz="1600" b="1" i="1" u="none" strike="noStrike" cap="none" dirty="0">
                  <a:solidFill>
                    <a:srgbClr val="002060"/>
                  </a:solidFill>
                  <a:latin typeface="Times New Roman"/>
                  <a:ea typeface="Times New Roman"/>
                  <a:cs typeface="Times New Roman"/>
                  <a:sym typeface="Times New Roman"/>
                </a:endParaRPr>
              </a:p>
            </p:txBody>
          </p:sp>
          <p:pic>
            <p:nvPicPr>
              <p:cNvPr id="23" name="Picture 8" descr="EOTY(Engineer Of The Year) – MHSSCOE ACM CHAPTER">
                <a:extLst>
                  <a:ext uri="{FF2B5EF4-FFF2-40B4-BE49-F238E27FC236}">
                    <a16:creationId xmlns:a16="http://schemas.microsoft.com/office/drawing/2014/main" id="{8C1FBB9C-798D-4AFC-8CBB-807E24331D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226" y="5598336"/>
                <a:ext cx="1011297" cy="1006802"/>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4" name="Title 1">
            <a:extLst>
              <a:ext uri="{FF2B5EF4-FFF2-40B4-BE49-F238E27FC236}">
                <a16:creationId xmlns:a16="http://schemas.microsoft.com/office/drawing/2014/main" id="{A92C7658-FA21-5576-5914-20E277D90886}"/>
              </a:ext>
            </a:extLst>
          </p:cNvPr>
          <p:cNvSpPr txBox="1">
            <a:spLocks/>
          </p:cNvSpPr>
          <p:nvPr/>
        </p:nvSpPr>
        <p:spPr>
          <a:xfrm>
            <a:off x="838200" y="-17569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n w="12700">
                  <a:solidFill>
                    <a:srgbClr val="002060"/>
                  </a:solidFill>
                  <a:prstDash val="solid"/>
                </a:ln>
                <a:solidFill>
                  <a:srgbClr val="002060"/>
                </a:solidFill>
                <a:effectLst>
                  <a:glow rad="63500">
                    <a:schemeClr val="accent5">
                      <a:satMod val="175000"/>
                      <a:alpha val="40000"/>
                    </a:schemeClr>
                  </a:glow>
                </a:effectLst>
                <a:sym typeface="Times New Roman"/>
              </a:rPr>
              <a:t>Objectives </a:t>
            </a:r>
            <a:endParaRPr lang="en-US" b="1" dirty="0">
              <a:ln w="12700">
                <a:solidFill>
                  <a:srgbClr val="002060"/>
                </a:solidFill>
                <a:prstDash val="solid"/>
              </a:ln>
              <a:solidFill>
                <a:srgbClr val="002060"/>
              </a:solidFill>
              <a:effectLst>
                <a:glow rad="63500">
                  <a:schemeClr val="accent5">
                    <a:satMod val="175000"/>
                    <a:alpha val="40000"/>
                  </a:schemeClr>
                </a:glow>
              </a:effectLst>
            </a:endParaRPr>
          </a:p>
        </p:txBody>
      </p:sp>
      <p:pic>
        <p:nvPicPr>
          <p:cNvPr id="5" name="Picture 4">
            <a:extLst>
              <a:ext uri="{FF2B5EF4-FFF2-40B4-BE49-F238E27FC236}">
                <a16:creationId xmlns:a16="http://schemas.microsoft.com/office/drawing/2014/main" id="{D2919DE9-B22D-B3AE-9E67-988871E3897A}"/>
              </a:ext>
            </a:extLst>
          </p:cNvPr>
          <p:cNvPicPr>
            <a:picLocks noChangeAspect="1"/>
          </p:cNvPicPr>
          <p:nvPr/>
        </p:nvPicPr>
        <p:blipFill>
          <a:blip r:embed="rId3"/>
          <a:stretch>
            <a:fillRect/>
          </a:stretch>
        </p:blipFill>
        <p:spPr>
          <a:xfrm flipH="1">
            <a:off x="-9939388" y="2284122"/>
            <a:ext cx="914400" cy="914400"/>
          </a:xfrm>
          <a:prstGeom prst="rect">
            <a:avLst/>
          </a:prstGeom>
          <a:effectLst>
            <a:glow rad="101600">
              <a:srgbClr val="CCFFFF">
                <a:alpha val="60000"/>
              </a:srgbClr>
            </a:glow>
          </a:effectLst>
        </p:spPr>
      </p:pic>
      <p:pic>
        <p:nvPicPr>
          <p:cNvPr id="6" name="Picture 5">
            <a:extLst>
              <a:ext uri="{FF2B5EF4-FFF2-40B4-BE49-F238E27FC236}">
                <a16:creationId xmlns:a16="http://schemas.microsoft.com/office/drawing/2014/main" id="{85A12585-3771-CCE9-1EC6-88B69CF8450A}"/>
              </a:ext>
            </a:extLst>
          </p:cNvPr>
          <p:cNvPicPr>
            <a:picLocks noChangeAspect="1"/>
          </p:cNvPicPr>
          <p:nvPr/>
        </p:nvPicPr>
        <p:blipFill>
          <a:blip r:embed="rId4"/>
          <a:stretch>
            <a:fillRect/>
          </a:stretch>
        </p:blipFill>
        <p:spPr>
          <a:xfrm>
            <a:off x="-2922989" y="2269980"/>
            <a:ext cx="914400" cy="914400"/>
          </a:xfrm>
          <a:prstGeom prst="rect">
            <a:avLst/>
          </a:prstGeom>
          <a:effectLst>
            <a:glow rad="101600">
              <a:schemeClr val="accent4">
                <a:lumMod val="40000"/>
                <a:lumOff val="60000"/>
                <a:alpha val="60000"/>
              </a:schemeClr>
            </a:glow>
          </a:effectLst>
        </p:spPr>
      </p:pic>
      <p:pic>
        <p:nvPicPr>
          <p:cNvPr id="7" name="Picture 6">
            <a:extLst>
              <a:ext uri="{FF2B5EF4-FFF2-40B4-BE49-F238E27FC236}">
                <a16:creationId xmlns:a16="http://schemas.microsoft.com/office/drawing/2014/main" id="{B2E6FC7C-8C69-0B1B-1227-0482078E7415}"/>
              </a:ext>
            </a:extLst>
          </p:cNvPr>
          <p:cNvPicPr>
            <a:picLocks noChangeAspect="1"/>
          </p:cNvPicPr>
          <p:nvPr/>
        </p:nvPicPr>
        <p:blipFill>
          <a:blip r:embed="rId5"/>
          <a:stretch>
            <a:fillRect/>
          </a:stretch>
        </p:blipFill>
        <p:spPr>
          <a:xfrm>
            <a:off x="14253264" y="2490599"/>
            <a:ext cx="914400" cy="914400"/>
          </a:xfrm>
          <a:prstGeom prst="rect">
            <a:avLst/>
          </a:prstGeom>
          <a:effectLst>
            <a:glow rad="101600">
              <a:srgbClr val="66FFCC">
                <a:alpha val="40000"/>
              </a:srgbClr>
            </a:glow>
          </a:effectLst>
        </p:spPr>
      </p:pic>
      <p:pic>
        <p:nvPicPr>
          <p:cNvPr id="8" name="Picture 7">
            <a:extLst>
              <a:ext uri="{FF2B5EF4-FFF2-40B4-BE49-F238E27FC236}">
                <a16:creationId xmlns:a16="http://schemas.microsoft.com/office/drawing/2014/main" id="{28535EBC-9045-C14A-DC15-8564DEAB4209}"/>
              </a:ext>
            </a:extLst>
          </p:cNvPr>
          <p:cNvPicPr>
            <a:picLocks noChangeAspect="1"/>
          </p:cNvPicPr>
          <p:nvPr/>
        </p:nvPicPr>
        <p:blipFill>
          <a:blip r:embed="rId6"/>
          <a:stretch>
            <a:fillRect/>
          </a:stretch>
        </p:blipFill>
        <p:spPr>
          <a:xfrm>
            <a:off x="20768220" y="2504975"/>
            <a:ext cx="914400" cy="914400"/>
          </a:xfrm>
          <a:prstGeom prst="rect">
            <a:avLst/>
          </a:prstGeom>
          <a:effectLst>
            <a:glow rad="101600">
              <a:srgbClr val="FF9A8F">
                <a:alpha val="40000"/>
              </a:srgbClr>
            </a:glow>
          </a:effectLst>
        </p:spPr>
      </p:pic>
    </p:spTree>
    <p:extLst>
      <p:ext uri="{BB962C8B-B14F-4D97-AF65-F5344CB8AC3E}">
        <p14:creationId xmlns:p14="http://schemas.microsoft.com/office/powerpoint/2010/main" val="1435560005"/>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C10C301-563D-474C-A14D-5DFF0248D4CD}"/>
              </a:ext>
            </a:extLst>
          </p:cNvPr>
          <p:cNvGrpSpPr/>
          <p:nvPr/>
        </p:nvGrpSpPr>
        <p:grpSpPr>
          <a:xfrm>
            <a:off x="-10160" y="5842000"/>
            <a:ext cx="12207699" cy="882978"/>
            <a:chOff x="-10160" y="5638921"/>
            <a:chExt cx="12207699" cy="1086057"/>
          </a:xfrm>
        </p:grpSpPr>
        <p:cxnSp>
          <p:nvCxnSpPr>
            <p:cNvPr id="15" name="Straight Connector 14">
              <a:extLst>
                <a:ext uri="{FF2B5EF4-FFF2-40B4-BE49-F238E27FC236}">
                  <a16:creationId xmlns:a16="http://schemas.microsoft.com/office/drawing/2014/main" id="{98D71426-1CF0-4BB2-8EDB-CAD26F49E2E0}"/>
                </a:ext>
              </a:extLst>
            </p:cNvPr>
            <p:cNvCxnSpPr>
              <a:cxnSpLocks/>
            </p:cNvCxnSpPr>
            <p:nvPr/>
          </p:nvCxnSpPr>
          <p:spPr>
            <a:xfrm>
              <a:off x="-10160" y="5638921"/>
              <a:ext cx="12207699"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CE0E8138-FE97-4F74-AB5F-46508FA5B60E}"/>
                </a:ext>
              </a:extLst>
            </p:cNvPr>
            <p:cNvGrpSpPr/>
            <p:nvPr/>
          </p:nvGrpSpPr>
          <p:grpSpPr>
            <a:xfrm>
              <a:off x="1789931" y="5718176"/>
              <a:ext cx="8612137" cy="1006802"/>
              <a:chOff x="1217226" y="5598336"/>
              <a:chExt cx="8612137" cy="1006802"/>
            </a:xfrm>
          </p:grpSpPr>
          <p:sp>
            <p:nvSpPr>
              <p:cNvPr id="17" name="Google Shape;46;p2">
                <a:extLst>
                  <a:ext uri="{FF2B5EF4-FFF2-40B4-BE49-F238E27FC236}">
                    <a16:creationId xmlns:a16="http://schemas.microsoft.com/office/drawing/2014/main" id="{B5485407-1414-4EF3-84E3-38AD9EFCBE2D}"/>
                  </a:ext>
                </a:extLst>
              </p:cNvPr>
              <p:cNvSpPr txBox="1"/>
              <p:nvPr/>
            </p:nvSpPr>
            <p:spPr>
              <a:xfrm>
                <a:off x="1844787" y="5927387"/>
                <a:ext cx="7984576" cy="3487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600" b="1" i="1" u="none" strike="noStrike" cap="none" dirty="0">
                    <a:solidFill>
                      <a:srgbClr val="002060"/>
                    </a:solidFill>
                    <a:latin typeface="Times New Roman"/>
                    <a:ea typeface="Times New Roman"/>
                    <a:cs typeface="Times New Roman"/>
                    <a:sym typeface="Times New Roman"/>
                  </a:rPr>
                  <a:t>Department of Computer Science &amp; Engineering</a:t>
                </a:r>
                <a:r>
                  <a:rPr lang="en-US" sz="1600" b="1" i="1" dirty="0">
                    <a:solidFill>
                      <a:srgbClr val="002060"/>
                    </a:solidFill>
                    <a:latin typeface="Times New Roman"/>
                    <a:ea typeface="Times New Roman"/>
                    <a:cs typeface="Times New Roman"/>
                    <a:sym typeface="Times New Roman"/>
                  </a:rPr>
                  <a:t> (</a:t>
                </a:r>
                <a:r>
                  <a:rPr lang="en-US" sz="1600" b="1" i="1" dirty="0" err="1">
                    <a:solidFill>
                      <a:srgbClr val="002060"/>
                    </a:solidFill>
                    <a:latin typeface="Times New Roman"/>
                    <a:ea typeface="Times New Roman"/>
                    <a:cs typeface="Times New Roman"/>
                    <a:sym typeface="Times New Roman"/>
                  </a:rPr>
                  <a:t>IoTCSBCT</a:t>
                </a:r>
                <a:r>
                  <a:rPr lang="en-US" sz="1600" b="1" i="1" dirty="0">
                    <a:solidFill>
                      <a:srgbClr val="002060"/>
                    </a:solidFill>
                    <a:latin typeface="Times New Roman"/>
                    <a:ea typeface="Times New Roman"/>
                    <a:cs typeface="Times New Roman"/>
                    <a:sym typeface="Times New Roman"/>
                  </a:rPr>
                  <a:t>), MHSSCE, Mumbai</a:t>
                </a:r>
                <a:endParaRPr sz="1600" b="1" i="1" u="none" strike="noStrike" cap="none" dirty="0">
                  <a:solidFill>
                    <a:srgbClr val="002060"/>
                  </a:solidFill>
                  <a:latin typeface="Times New Roman"/>
                  <a:ea typeface="Times New Roman"/>
                  <a:cs typeface="Times New Roman"/>
                  <a:sym typeface="Times New Roman"/>
                </a:endParaRPr>
              </a:p>
            </p:txBody>
          </p:sp>
          <p:pic>
            <p:nvPicPr>
              <p:cNvPr id="18" name="Picture 8" descr="EOTY(Engineer Of The Year) – MHSSCOE ACM CHAPTER">
                <a:extLst>
                  <a:ext uri="{FF2B5EF4-FFF2-40B4-BE49-F238E27FC236}">
                    <a16:creationId xmlns:a16="http://schemas.microsoft.com/office/drawing/2014/main" id="{3EDF9679-1B75-44BF-BC74-B286DEC7D3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226" y="5598336"/>
                <a:ext cx="1011297" cy="1006802"/>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6" name="Picture 5">
            <a:extLst>
              <a:ext uri="{FF2B5EF4-FFF2-40B4-BE49-F238E27FC236}">
                <a16:creationId xmlns:a16="http://schemas.microsoft.com/office/drawing/2014/main" id="{D86B542D-D661-9DB7-C8AB-3F8BDFCB6FE7}"/>
              </a:ext>
            </a:extLst>
          </p:cNvPr>
          <p:cNvPicPr>
            <a:picLocks noChangeAspect="1"/>
          </p:cNvPicPr>
          <p:nvPr/>
        </p:nvPicPr>
        <p:blipFill>
          <a:blip r:embed="rId3"/>
          <a:stretch>
            <a:fillRect/>
          </a:stretch>
        </p:blipFill>
        <p:spPr>
          <a:xfrm flipH="1">
            <a:off x="1180897" y="2490599"/>
            <a:ext cx="914400" cy="914400"/>
          </a:xfrm>
          <a:prstGeom prst="rect">
            <a:avLst/>
          </a:prstGeom>
          <a:effectLst>
            <a:glow rad="101600">
              <a:srgbClr val="BFF1FD">
                <a:alpha val="60000"/>
              </a:srgbClr>
            </a:glow>
          </a:effectLst>
        </p:spPr>
      </p:pic>
      <p:sp>
        <p:nvSpPr>
          <p:cNvPr id="7" name="TextBox 6">
            <a:extLst>
              <a:ext uri="{FF2B5EF4-FFF2-40B4-BE49-F238E27FC236}">
                <a16:creationId xmlns:a16="http://schemas.microsoft.com/office/drawing/2014/main" id="{4E1E746B-81FB-B3FD-9A64-36A09BDD2535}"/>
              </a:ext>
            </a:extLst>
          </p:cNvPr>
          <p:cNvSpPr txBox="1"/>
          <p:nvPr/>
        </p:nvSpPr>
        <p:spPr>
          <a:xfrm>
            <a:off x="515913" y="3778039"/>
            <a:ext cx="2403908" cy="1200329"/>
          </a:xfrm>
          <a:prstGeom prst="rect">
            <a:avLst/>
          </a:prstGeom>
          <a:noFill/>
        </p:spPr>
        <p:txBody>
          <a:bodyPr wrap="square" rtlCol="0">
            <a:spAutoFit/>
          </a:bodyPr>
          <a:lstStyle/>
          <a:p>
            <a:pPr algn="ctr"/>
            <a:r>
              <a:rPr lang="en-US" altLang="en-US" sz="1600" b="1" dirty="0">
                <a:latin typeface="Arial" panose="020B0604020202020204" pitchFamily="34" charset="0"/>
              </a:rPr>
              <a:t>Decentralization</a:t>
            </a:r>
            <a:r>
              <a:rPr lang="en-US" altLang="en-US" sz="1600" dirty="0">
                <a:latin typeface="Arial" panose="020B0604020202020204" pitchFamily="34" charset="0"/>
              </a:rPr>
              <a:t>  </a:t>
            </a:r>
          </a:p>
          <a:p>
            <a:pPr algn="ctr"/>
            <a:endParaRPr lang="en-US" altLang="en-US" sz="1400" dirty="0">
              <a:latin typeface="Arial" panose="020B0604020202020204" pitchFamily="34" charset="0"/>
            </a:endParaRPr>
          </a:p>
          <a:p>
            <a:pPr algn="ctr"/>
            <a:r>
              <a:rPr lang="en-US" altLang="en-US" sz="1400" dirty="0">
                <a:latin typeface="Arial" panose="020B0604020202020204" pitchFamily="34" charset="0"/>
              </a:rPr>
              <a:t>Develop a blockchain-based online voting platform without centralized control.</a:t>
            </a:r>
          </a:p>
        </p:txBody>
      </p:sp>
      <p:pic>
        <p:nvPicPr>
          <p:cNvPr id="11" name="Picture 10">
            <a:extLst>
              <a:ext uri="{FF2B5EF4-FFF2-40B4-BE49-F238E27FC236}">
                <a16:creationId xmlns:a16="http://schemas.microsoft.com/office/drawing/2014/main" id="{98A10905-555A-20CE-B777-BC3EBE787E83}"/>
              </a:ext>
            </a:extLst>
          </p:cNvPr>
          <p:cNvPicPr>
            <a:picLocks noChangeAspect="1"/>
          </p:cNvPicPr>
          <p:nvPr/>
        </p:nvPicPr>
        <p:blipFill>
          <a:blip r:embed="rId4"/>
          <a:stretch>
            <a:fillRect/>
          </a:stretch>
        </p:blipFill>
        <p:spPr>
          <a:xfrm>
            <a:off x="4185734" y="2476457"/>
            <a:ext cx="914400" cy="914400"/>
          </a:xfrm>
          <a:prstGeom prst="rect">
            <a:avLst/>
          </a:prstGeom>
          <a:effectLst>
            <a:glow rad="139700">
              <a:schemeClr val="accent4">
                <a:satMod val="175000"/>
                <a:alpha val="40000"/>
              </a:schemeClr>
            </a:glow>
          </a:effectLst>
        </p:spPr>
      </p:pic>
      <p:sp>
        <p:nvSpPr>
          <p:cNvPr id="12" name="TextBox 11">
            <a:extLst>
              <a:ext uri="{FF2B5EF4-FFF2-40B4-BE49-F238E27FC236}">
                <a16:creationId xmlns:a16="http://schemas.microsoft.com/office/drawing/2014/main" id="{CD7CBA99-1FEC-A3E6-DF7E-5C9362E22863}"/>
              </a:ext>
            </a:extLst>
          </p:cNvPr>
          <p:cNvSpPr txBox="1"/>
          <p:nvPr/>
        </p:nvSpPr>
        <p:spPr>
          <a:xfrm>
            <a:off x="3442401" y="3778038"/>
            <a:ext cx="2403908" cy="1200329"/>
          </a:xfrm>
          <a:prstGeom prst="rect">
            <a:avLst/>
          </a:prstGeom>
          <a:noFill/>
        </p:spPr>
        <p:txBody>
          <a:bodyPr wrap="square" rtlCol="0">
            <a:spAutoFit/>
          </a:bodyPr>
          <a:lstStyle/>
          <a:p>
            <a:pPr algn="ctr"/>
            <a:r>
              <a:rPr lang="en-US" altLang="en-US" sz="1600" b="1" dirty="0">
                <a:latin typeface="Arial" panose="020B0604020202020204" pitchFamily="34" charset="0"/>
              </a:rPr>
              <a:t>Security</a:t>
            </a:r>
            <a:r>
              <a:rPr lang="en-US" altLang="en-US" sz="1600" dirty="0">
                <a:latin typeface="Arial" panose="020B0604020202020204" pitchFamily="34" charset="0"/>
              </a:rPr>
              <a:t>  </a:t>
            </a:r>
          </a:p>
          <a:p>
            <a:pPr algn="ctr"/>
            <a:endParaRPr lang="en-US" altLang="en-US" sz="1400" dirty="0">
              <a:latin typeface="Arial" panose="020B0604020202020204" pitchFamily="34" charset="0"/>
            </a:endParaRPr>
          </a:p>
          <a:p>
            <a:pPr lvl="0" algn="ctr" eaLnBrk="0" fontAlgn="base" hangingPunct="0">
              <a:spcBef>
                <a:spcPct val="0"/>
              </a:spcBef>
              <a:spcAft>
                <a:spcPct val="0"/>
              </a:spcAft>
            </a:pPr>
            <a:r>
              <a:rPr lang="en-US" altLang="en-US" sz="1400" dirty="0">
                <a:latin typeface="Arial" panose="020B0604020202020204" pitchFamily="34" charset="0"/>
              </a:rPr>
              <a:t>Ensure voter data protection, privacy, and resistance to tampering.</a:t>
            </a:r>
          </a:p>
        </p:txBody>
      </p:sp>
      <p:sp>
        <p:nvSpPr>
          <p:cNvPr id="13" name="TextBox 12">
            <a:extLst>
              <a:ext uri="{FF2B5EF4-FFF2-40B4-BE49-F238E27FC236}">
                <a16:creationId xmlns:a16="http://schemas.microsoft.com/office/drawing/2014/main" id="{9216837D-FD4A-133F-4EA5-F05DCD5764FD}"/>
              </a:ext>
            </a:extLst>
          </p:cNvPr>
          <p:cNvSpPr txBox="1"/>
          <p:nvPr/>
        </p:nvSpPr>
        <p:spPr>
          <a:xfrm>
            <a:off x="6279932" y="3840934"/>
            <a:ext cx="2403908" cy="1200329"/>
          </a:xfrm>
          <a:prstGeom prst="rect">
            <a:avLst/>
          </a:prstGeom>
          <a:noFill/>
        </p:spPr>
        <p:txBody>
          <a:bodyPr wrap="square" rtlCol="0">
            <a:spAutoFit/>
          </a:bodyPr>
          <a:lstStyle/>
          <a:p>
            <a:pPr algn="ctr"/>
            <a:r>
              <a:rPr lang="en-US" sz="1600" b="1" dirty="0">
                <a:solidFill>
                  <a:srgbClr val="000000"/>
                </a:solidFill>
                <a:latin typeface="Arial" panose="020B0604020202020204" pitchFamily="34" charset="0"/>
              </a:rPr>
              <a:t>Transparency</a:t>
            </a:r>
            <a:endParaRPr lang="en-US" sz="1600" b="1" i="0" kern="1200" baseline="0" dirty="0">
              <a:ln>
                <a:noFill/>
              </a:ln>
              <a:solidFill>
                <a:srgbClr val="000000"/>
              </a:solidFill>
              <a:effectLst/>
              <a:latin typeface="Arial" panose="020B0604020202020204" pitchFamily="34" charset="0"/>
              <a:ea typeface="+mn-ea"/>
              <a:cs typeface="+mn-cs"/>
            </a:endParaRPr>
          </a:p>
          <a:p>
            <a:pPr algn="ctr"/>
            <a:endParaRPr lang="en-US" sz="1400" dirty="0">
              <a:solidFill>
                <a:srgbClr val="000000"/>
              </a:solidFill>
              <a:latin typeface="Arial" panose="020B0604020202020204" pitchFamily="34" charset="0"/>
            </a:endParaRPr>
          </a:p>
          <a:p>
            <a:pPr algn="ctr"/>
            <a:r>
              <a:rPr lang="en-US" sz="1400" b="0" i="0" kern="1200" baseline="0" dirty="0">
                <a:ln>
                  <a:noFill/>
                </a:ln>
                <a:solidFill>
                  <a:srgbClr val="000000"/>
                </a:solidFill>
                <a:effectLst/>
                <a:latin typeface="Arial" panose="020B0604020202020204" pitchFamily="34" charset="0"/>
                <a:ea typeface="+mn-ea"/>
                <a:cs typeface="+mn-cs"/>
              </a:rPr>
              <a:t>Enable public auditability and real-time result verification</a:t>
            </a:r>
            <a:endParaRPr lang="en-US" altLang="en-US" sz="1200" dirty="0">
              <a:latin typeface="Aerial"/>
            </a:endParaRPr>
          </a:p>
        </p:txBody>
      </p:sp>
      <p:pic>
        <p:nvPicPr>
          <p:cNvPr id="22" name="Picture 21">
            <a:extLst>
              <a:ext uri="{FF2B5EF4-FFF2-40B4-BE49-F238E27FC236}">
                <a16:creationId xmlns:a16="http://schemas.microsoft.com/office/drawing/2014/main" id="{1F281343-8811-5C09-E97C-8DE61C71C3DA}"/>
              </a:ext>
            </a:extLst>
          </p:cNvPr>
          <p:cNvPicPr>
            <a:picLocks noChangeAspect="1"/>
          </p:cNvPicPr>
          <p:nvPr/>
        </p:nvPicPr>
        <p:blipFill>
          <a:blip r:embed="rId5"/>
          <a:stretch>
            <a:fillRect/>
          </a:stretch>
        </p:blipFill>
        <p:spPr>
          <a:xfrm>
            <a:off x="6938057" y="2490599"/>
            <a:ext cx="914400" cy="914400"/>
          </a:xfrm>
          <a:prstGeom prst="rect">
            <a:avLst/>
          </a:prstGeom>
          <a:effectLst>
            <a:glow rad="101600">
              <a:srgbClr val="FF0000">
                <a:alpha val="40000"/>
              </a:srgbClr>
            </a:glow>
          </a:effectLst>
        </p:spPr>
      </p:pic>
      <p:pic>
        <p:nvPicPr>
          <p:cNvPr id="24" name="Picture 23">
            <a:extLst>
              <a:ext uri="{FF2B5EF4-FFF2-40B4-BE49-F238E27FC236}">
                <a16:creationId xmlns:a16="http://schemas.microsoft.com/office/drawing/2014/main" id="{DB1C98DC-BDFE-F88A-DCFD-18FFBEFE9C06}"/>
              </a:ext>
            </a:extLst>
          </p:cNvPr>
          <p:cNvPicPr>
            <a:picLocks noChangeAspect="1"/>
          </p:cNvPicPr>
          <p:nvPr/>
        </p:nvPicPr>
        <p:blipFill>
          <a:blip r:embed="rId6"/>
          <a:stretch>
            <a:fillRect/>
          </a:stretch>
        </p:blipFill>
        <p:spPr>
          <a:xfrm>
            <a:off x="9942894" y="2504975"/>
            <a:ext cx="914400" cy="914400"/>
          </a:xfrm>
          <a:prstGeom prst="rect">
            <a:avLst/>
          </a:prstGeom>
          <a:effectLst>
            <a:glow rad="101600">
              <a:srgbClr val="FD17DC">
                <a:alpha val="40000"/>
              </a:srgbClr>
            </a:glow>
          </a:effectLst>
        </p:spPr>
      </p:pic>
      <p:sp>
        <p:nvSpPr>
          <p:cNvPr id="25" name="TextBox 24">
            <a:extLst>
              <a:ext uri="{FF2B5EF4-FFF2-40B4-BE49-F238E27FC236}">
                <a16:creationId xmlns:a16="http://schemas.microsoft.com/office/drawing/2014/main" id="{B1C52F5C-1BA0-1F1D-7222-D97E1963D505}"/>
              </a:ext>
            </a:extLst>
          </p:cNvPr>
          <p:cNvSpPr txBox="1"/>
          <p:nvPr/>
        </p:nvSpPr>
        <p:spPr>
          <a:xfrm>
            <a:off x="8944207" y="3830745"/>
            <a:ext cx="2846740" cy="1231106"/>
          </a:xfrm>
          <a:prstGeom prst="rect">
            <a:avLst/>
          </a:prstGeom>
          <a:noFill/>
        </p:spPr>
        <p:txBody>
          <a:bodyPr wrap="square" rtlCol="0">
            <a:spAutoFit/>
          </a:bodyPr>
          <a:lstStyle/>
          <a:p>
            <a:pPr lvl="0" algn="ctr" eaLnBrk="0" fontAlgn="base" hangingPunct="0">
              <a:spcBef>
                <a:spcPct val="0"/>
              </a:spcBef>
              <a:spcAft>
                <a:spcPct val="0"/>
              </a:spcAft>
            </a:pPr>
            <a:r>
              <a:rPr lang="en-US" altLang="en-US" sz="1600" b="1" dirty="0">
                <a:latin typeface="Arial" panose="020B0604020202020204" pitchFamily="34" charset="0"/>
              </a:rPr>
              <a:t>Eliminate Intermediaries</a:t>
            </a:r>
          </a:p>
          <a:p>
            <a:pPr lvl="0" algn="ctr" eaLnBrk="0" fontAlgn="base" hangingPunct="0">
              <a:spcBef>
                <a:spcPct val="0"/>
              </a:spcBef>
              <a:spcAft>
                <a:spcPct val="0"/>
              </a:spcAft>
            </a:pPr>
            <a:endParaRPr lang="en-US" altLang="en-US" sz="1600" b="1" dirty="0">
              <a:latin typeface="Arial" panose="020B0604020202020204" pitchFamily="34" charset="0"/>
            </a:endParaRPr>
          </a:p>
          <a:p>
            <a:pPr lvl="0" algn="ctr" eaLnBrk="0" fontAlgn="base" hangingPunct="0">
              <a:spcBef>
                <a:spcPct val="0"/>
              </a:spcBef>
              <a:spcAft>
                <a:spcPct val="0"/>
              </a:spcAft>
            </a:pPr>
            <a:r>
              <a:rPr lang="en-US" altLang="en-US" sz="1400" dirty="0">
                <a:latin typeface="Arial" panose="020B0604020202020204" pitchFamily="34" charset="0"/>
              </a:rPr>
              <a:t> Remove third-party involvement to prevent manipulation or interference.</a:t>
            </a:r>
          </a:p>
        </p:txBody>
      </p:sp>
      <p:sp>
        <p:nvSpPr>
          <p:cNvPr id="28" name="Title 1">
            <a:extLst>
              <a:ext uri="{FF2B5EF4-FFF2-40B4-BE49-F238E27FC236}">
                <a16:creationId xmlns:a16="http://schemas.microsoft.com/office/drawing/2014/main" id="{378D7A94-9809-4D4B-4A33-651083DCD3DD}"/>
              </a:ext>
            </a:extLst>
          </p:cNvPr>
          <p:cNvSpPr txBox="1">
            <a:spLocks/>
          </p:cNvSpPr>
          <p:nvPr/>
        </p:nvSpPr>
        <p:spPr>
          <a:xfrm>
            <a:off x="838200" y="42016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n w="12700">
                  <a:solidFill>
                    <a:srgbClr val="002060"/>
                  </a:solidFill>
                  <a:prstDash val="solid"/>
                </a:ln>
                <a:solidFill>
                  <a:srgbClr val="002060"/>
                </a:solidFill>
                <a:effectLst>
                  <a:glow rad="63500">
                    <a:schemeClr val="accent5">
                      <a:satMod val="175000"/>
                      <a:alpha val="40000"/>
                    </a:schemeClr>
                  </a:glow>
                </a:effectLst>
                <a:sym typeface="Times New Roman"/>
              </a:rPr>
              <a:t>Objectives </a:t>
            </a:r>
            <a:endParaRPr lang="en-US" b="1" dirty="0">
              <a:ln w="12700">
                <a:solidFill>
                  <a:srgbClr val="002060"/>
                </a:solidFill>
                <a:prstDash val="solid"/>
              </a:ln>
              <a:solidFill>
                <a:srgbClr val="002060"/>
              </a:solidFill>
              <a:effectLst>
                <a:glow rad="63500">
                  <a:schemeClr val="accent5">
                    <a:satMod val="175000"/>
                    <a:alpha val="40000"/>
                  </a:schemeClr>
                </a:glow>
              </a:effectLst>
            </a:endParaRPr>
          </a:p>
        </p:txBody>
      </p:sp>
      <p:grpSp>
        <p:nvGrpSpPr>
          <p:cNvPr id="31" name="Group 30">
            <a:extLst>
              <a:ext uri="{FF2B5EF4-FFF2-40B4-BE49-F238E27FC236}">
                <a16:creationId xmlns:a16="http://schemas.microsoft.com/office/drawing/2014/main" id="{9B6ED310-758A-ECBE-956C-A3D6CA17032F}"/>
              </a:ext>
            </a:extLst>
          </p:cNvPr>
          <p:cNvGrpSpPr/>
          <p:nvPr/>
        </p:nvGrpSpPr>
        <p:grpSpPr>
          <a:xfrm>
            <a:off x="-6267650" y="1490510"/>
            <a:ext cx="5746816" cy="4133050"/>
            <a:chOff x="0" y="1644516"/>
            <a:chExt cx="5746816" cy="4133050"/>
          </a:xfrm>
        </p:grpSpPr>
        <p:pic>
          <p:nvPicPr>
            <p:cNvPr id="32" name="Picture 31">
              <a:extLst>
                <a:ext uri="{FF2B5EF4-FFF2-40B4-BE49-F238E27FC236}">
                  <a16:creationId xmlns:a16="http://schemas.microsoft.com/office/drawing/2014/main" id="{54133902-2288-06B3-37C8-5CD952992EC6}"/>
                </a:ext>
              </a:extLst>
            </p:cNvPr>
            <p:cNvPicPr>
              <a:picLocks noChangeAspect="1"/>
            </p:cNvPicPr>
            <p:nvPr/>
          </p:nvPicPr>
          <p:blipFill>
            <a:blip r:embed="rId7">
              <a:alphaModFix amt="20000"/>
            </a:blip>
            <a:stretch>
              <a:fillRect/>
            </a:stretch>
          </p:blipFill>
          <p:spPr>
            <a:xfrm>
              <a:off x="0" y="1644516"/>
              <a:ext cx="5746816" cy="4133050"/>
            </a:xfrm>
            <a:prstGeom prst="rect">
              <a:avLst/>
            </a:prstGeom>
            <a:ln>
              <a:solidFill>
                <a:schemeClr val="tx1"/>
              </a:solidFill>
            </a:ln>
            <a:effectLst>
              <a:softEdge rad="38100"/>
            </a:effectLst>
          </p:spPr>
        </p:pic>
        <p:pic>
          <p:nvPicPr>
            <p:cNvPr id="33" name="Picture 32">
              <a:extLst>
                <a:ext uri="{FF2B5EF4-FFF2-40B4-BE49-F238E27FC236}">
                  <a16:creationId xmlns:a16="http://schemas.microsoft.com/office/drawing/2014/main" id="{1B3F9611-1459-BCC0-2F30-2170FADD68CB}"/>
                </a:ext>
              </a:extLst>
            </p:cNvPr>
            <p:cNvPicPr>
              <a:picLocks noChangeAspect="1"/>
            </p:cNvPicPr>
            <p:nvPr/>
          </p:nvPicPr>
          <p:blipFill>
            <a:blip r:embed="rId8"/>
            <a:stretch>
              <a:fillRect/>
            </a:stretch>
          </p:blipFill>
          <p:spPr>
            <a:xfrm>
              <a:off x="2133546" y="2838648"/>
              <a:ext cx="914400" cy="914400"/>
            </a:xfrm>
            <a:prstGeom prst="rect">
              <a:avLst/>
            </a:prstGeom>
            <a:ln>
              <a:noFill/>
            </a:ln>
            <a:effectLst>
              <a:glow rad="101600">
                <a:srgbClr val="FD17DC">
                  <a:alpha val="60000"/>
                </a:srgbClr>
              </a:glow>
            </a:effectLst>
          </p:spPr>
        </p:pic>
        <p:sp>
          <p:nvSpPr>
            <p:cNvPr id="34" name="TextBox 33">
              <a:extLst>
                <a:ext uri="{FF2B5EF4-FFF2-40B4-BE49-F238E27FC236}">
                  <a16:creationId xmlns:a16="http://schemas.microsoft.com/office/drawing/2014/main" id="{BDAB3AD4-FE75-380E-F267-BEDED37856DD}"/>
                </a:ext>
              </a:extLst>
            </p:cNvPr>
            <p:cNvSpPr txBox="1"/>
            <p:nvPr/>
          </p:nvSpPr>
          <p:spPr>
            <a:xfrm>
              <a:off x="768416" y="2038953"/>
              <a:ext cx="3734602" cy="523220"/>
            </a:xfrm>
            <a:prstGeom prst="rect">
              <a:avLst/>
            </a:prstGeom>
            <a:noFill/>
          </p:spPr>
          <p:txBody>
            <a:bodyPr wrap="square" rtlCol="0">
              <a:spAutoFit/>
            </a:bodyPr>
            <a:lstStyle/>
            <a:p>
              <a:pPr algn="ctr"/>
              <a:r>
                <a:rPr lang="en-US" sz="2800" b="1" dirty="0">
                  <a:ln w="0">
                    <a:solidFill>
                      <a:schemeClr val="accent1"/>
                    </a:solidFill>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FRONT-END</a:t>
              </a:r>
            </a:p>
          </p:txBody>
        </p:sp>
        <p:sp>
          <p:nvSpPr>
            <p:cNvPr id="35" name="TextBox 34">
              <a:extLst>
                <a:ext uri="{FF2B5EF4-FFF2-40B4-BE49-F238E27FC236}">
                  <a16:creationId xmlns:a16="http://schemas.microsoft.com/office/drawing/2014/main" id="{82EBB5D8-7CE1-7FB7-6713-0DB43E7BAE74}"/>
                </a:ext>
              </a:extLst>
            </p:cNvPr>
            <p:cNvSpPr txBox="1"/>
            <p:nvPr/>
          </p:nvSpPr>
          <p:spPr>
            <a:xfrm>
              <a:off x="279132" y="4013732"/>
              <a:ext cx="5149515" cy="1384995"/>
            </a:xfrm>
            <a:prstGeom prst="rect">
              <a:avLst/>
            </a:prstGeom>
            <a:noFill/>
          </p:spPr>
          <p:txBody>
            <a:bodyPr wrap="square" rtlCol="0">
              <a:spAutoFit/>
            </a:bodyPr>
            <a:lstStyle/>
            <a:p>
              <a:pPr algn="just"/>
              <a:r>
                <a:rPr lang="en-US" sz="1400" dirty="0">
                  <a:latin typeface="Aerial"/>
                </a:rPr>
                <a:t>The frontend of the system was developed using HTML, CSS, and JavaScript to create an interactive and user-friendly voting interface. MetaMask integration was implemented to enable secure wallet-based authentication and allow users to connect to the Ethereum blockchain seamlessly. The interface allows voters to register, cast votes, and view election results in real time.</a:t>
              </a:r>
            </a:p>
          </p:txBody>
        </p:sp>
      </p:grpSp>
      <p:grpSp>
        <p:nvGrpSpPr>
          <p:cNvPr id="36" name="Group 35">
            <a:extLst>
              <a:ext uri="{FF2B5EF4-FFF2-40B4-BE49-F238E27FC236}">
                <a16:creationId xmlns:a16="http://schemas.microsoft.com/office/drawing/2014/main" id="{8C054AB8-7212-0A56-DD00-B72B6B928F06}"/>
              </a:ext>
            </a:extLst>
          </p:cNvPr>
          <p:cNvGrpSpPr/>
          <p:nvPr/>
        </p:nvGrpSpPr>
        <p:grpSpPr>
          <a:xfrm>
            <a:off x="12833305" y="1490510"/>
            <a:ext cx="5746816" cy="4133050"/>
            <a:chOff x="6409780" y="1644516"/>
            <a:chExt cx="5746816" cy="4133050"/>
          </a:xfrm>
        </p:grpSpPr>
        <p:pic>
          <p:nvPicPr>
            <p:cNvPr id="37" name="Picture 36">
              <a:extLst>
                <a:ext uri="{FF2B5EF4-FFF2-40B4-BE49-F238E27FC236}">
                  <a16:creationId xmlns:a16="http://schemas.microsoft.com/office/drawing/2014/main" id="{9D1F71A7-7678-8707-FAE5-2ECD72487599}"/>
                </a:ext>
              </a:extLst>
            </p:cNvPr>
            <p:cNvPicPr>
              <a:picLocks noChangeAspect="1"/>
            </p:cNvPicPr>
            <p:nvPr/>
          </p:nvPicPr>
          <p:blipFill>
            <a:blip r:embed="rId7">
              <a:alphaModFix amt="20000"/>
            </a:blip>
            <a:stretch>
              <a:fillRect/>
            </a:stretch>
          </p:blipFill>
          <p:spPr>
            <a:xfrm>
              <a:off x="6409780" y="1644516"/>
              <a:ext cx="5746816" cy="4133050"/>
            </a:xfrm>
            <a:prstGeom prst="rect">
              <a:avLst/>
            </a:prstGeom>
            <a:ln>
              <a:solidFill>
                <a:schemeClr val="tx1"/>
              </a:solidFill>
            </a:ln>
            <a:effectLst>
              <a:softEdge rad="38100"/>
            </a:effectLst>
          </p:spPr>
        </p:pic>
        <p:sp>
          <p:nvSpPr>
            <p:cNvPr id="38" name="TextBox 37">
              <a:extLst>
                <a:ext uri="{FF2B5EF4-FFF2-40B4-BE49-F238E27FC236}">
                  <a16:creationId xmlns:a16="http://schemas.microsoft.com/office/drawing/2014/main" id="{59621192-1E23-72B1-9096-F2E963FC93F5}"/>
                </a:ext>
              </a:extLst>
            </p:cNvPr>
            <p:cNvSpPr txBox="1"/>
            <p:nvPr/>
          </p:nvSpPr>
          <p:spPr>
            <a:xfrm>
              <a:off x="7415887" y="2038953"/>
              <a:ext cx="3734602" cy="523220"/>
            </a:xfrm>
            <a:prstGeom prst="rect">
              <a:avLst/>
            </a:prstGeom>
            <a:noFill/>
          </p:spPr>
          <p:txBody>
            <a:bodyPr wrap="square" rtlCol="0">
              <a:spAutoFit/>
            </a:bodyPr>
            <a:lstStyle/>
            <a:p>
              <a:pPr algn="ctr"/>
              <a:r>
                <a:rPr lang="en-US" sz="2800" b="1" dirty="0">
                  <a:ln w="0">
                    <a:solidFill>
                      <a:schemeClr val="accent1"/>
                    </a:solidFill>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BACK-END</a:t>
              </a:r>
            </a:p>
          </p:txBody>
        </p:sp>
        <p:pic>
          <p:nvPicPr>
            <p:cNvPr id="39" name="Picture 38">
              <a:extLst>
                <a:ext uri="{FF2B5EF4-FFF2-40B4-BE49-F238E27FC236}">
                  <a16:creationId xmlns:a16="http://schemas.microsoft.com/office/drawing/2014/main" id="{397995F0-E22D-F30B-517E-3632A1528EE4}"/>
                </a:ext>
              </a:extLst>
            </p:cNvPr>
            <p:cNvPicPr>
              <a:picLocks noChangeAspect="1"/>
            </p:cNvPicPr>
            <p:nvPr/>
          </p:nvPicPr>
          <p:blipFill>
            <a:blip r:embed="rId9"/>
            <a:stretch>
              <a:fillRect/>
            </a:stretch>
          </p:blipFill>
          <p:spPr>
            <a:xfrm>
              <a:off x="8825988" y="2780610"/>
              <a:ext cx="914400" cy="914400"/>
            </a:xfrm>
            <a:prstGeom prst="rect">
              <a:avLst/>
            </a:prstGeom>
            <a:effectLst>
              <a:glow rad="101600">
                <a:srgbClr val="FF0000">
                  <a:alpha val="60000"/>
                </a:srgbClr>
              </a:glow>
            </a:effectLst>
          </p:spPr>
        </p:pic>
        <p:sp>
          <p:nvSpPr>
            <p:cNvPr id="40" name="TextBox 39">
              <a:extLst>
                <a:ext uri="{FF2B5EF4-FFF2-40B4-BE49-F238E27FC236}">
                  <a16:creationId xmlns:a16="http://schemas.microsoft.com/office/drawing/2014/main" id="{AD238A7D-9B70-DE7E-CF06-4818C8DEE202}"/>
                </a:ext>
              </a:extLst>
            </p:cNvPr>
            <p:cNvSpPr txBox="1"/>
            <p:nvPr/>
          </p:nvSpPr>
          <p:spPr>
            <a:xfrm>
              <a:off x="6736102" y="4002502"/>
              <a:ext cx="5149515" cy="1600438"/>
            </a:xfrm>
            <a:prstGeom prst="rect">
              <a:avLst/>
            </a:prstGeom>
            <a:noFill/>
          </p:spPr>
          <p:txBody>
            <a:bodyPr wrap="square" rtlCol="0">
              <a:spAutoFit/>
            </a:bodyPr>
            <a:lstStyle/>
            <a:p>
              <a:pPr algn="just"/>
              <a:r>
                <a:rPr lang="en-US" sz="1400" dirty="0"/>
                <a:t>On the backend, Node.js was used to manage application logic and handle communication between the frontend and the blockchain. Smart contracts were written in Solidity and deployed on the Ethereum platform to securely manage voter verification, vote casting, and automatic vote counting. Web3.js was integrated to connect the application with the blockchain, while Ganache was used for local blockchain testing and development.</a:t>
              </a:r>
              <a:endParaRPr lang="en-US" sz="1400" dirty="0">
                <a:latin typeface="Aerial"/>
              </a:endParaRPr>
            </a:p>
          </p:txBody>
        </p:sp>
      </p:grpSp>
      <p:sp>
        <p:nvSpPr>
          <p:cNvPr id="41" name="Title 1">
            <a:extLst>
              <a:ext uri="{FF2B5EF4-FFF2-40B4-BE49-F238E27FC236}">
                <a16:creationId xmlns:a16="http://schemas.microsoft.com/office/drawing/2014/main" id="{D5E506F1-A6AE-2F21-4291-606D8A8F7331}"/>
              </a:ext>
            </a:extLst>
          </p:cNvPr>
          <p:cNvSpPr>
            <a:spLocks noGrp="1"/>
          </p:cNvSpPr>
          <p:nvPr>
            <p:ph type="title"/>
          </p:nvPr>
        </p:nvSpPr>
        <p:spPr>
          <a:xfrm>
            <a:off x="838200" y="-2162495"/>
            <a:ext cx="10515600" cy="1325563"/>
          </a:xfrm>
        </p:spPr>
        <p:txBody>
          <a:bodyPr>
            <a:normAutofit/>
          </a:bodyPr>
          <a:lstStyle/>
          <a:p>
            <a:pPr marL="0" marR="0" lvl="0" indent="0" algn="ctr">
              <a:spcAft>
                <a:spcPts val="0"/>
              </a:spcAft>
            </a:pPr>
            <a:r>
              <a:rPr lang="en-IN" b="1" dirty="0">
                <a:ln w="12700">
                  <a:solidFill>
                    <a:srgbClr val="002060"/>
                  </a:solidFill>
                  <a:prstDash val="solid"/>
                </a:ln>
                <a:solidFill>
                  <a:srgbClr val="002060"/>
                </a:solidFill>
                <a:effectLst>
                  <a:glow rad="63500">
                    <a:schemeClr val="accent5">
                      <a:satMod val="175000"/>
                      <a:alpha val="40000"/>
                    </a:schemeClr>
                  </a:glow>
                </a:effectLst>
                <a:sym typeface="Times New Roman"/>
              </a:rPr>
              <a:t>Summary of Work Done</a:t>
            </a:r>
          </a:p>
        </p:txBody>
      </p:sp>
    </p:spTree>
    <p:extLst>
      <p:ext uri="{BB962C8B-B14F-4D97-AF65-F5344CB8AC3E}">
        <p14:creationId xmlns:p14="http://schemas.microsoft.com/office/powerpoint/2010/main" val="13771356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6"/>
                                        </p:tgtEl>
                                        <p:attrNameLst>
                                          <p:attrName>r</p:attrName>
                                        </p:attrNameLst>
                                      </p:cBhvr>
                                    </p:animRot>
                                    <p:animRot by="-240000">
                                      <p:cBhvr>
                                        <p:cTn id="7" dur="200" fill="hold">
                                          <p:stCondLst>
                                            <p:cond delay="200"/>
                                          </p:stCondLst>
                                        </p:cTn>
                                        <p:tgtEl>
                                          <p:spTgt spid="6"/>
                                        </p:tgtEl>
                                        <p:attrNameLst>
                                          <p:attrName>r</p:attrName>
                                        </p:attrNameLst>
                                      </p:cBhvr>
                                    </p:animRot>
                                    <p:animRot by="240000">
                                      <p:cBhvr>
                                        <p:cTn id="8" dur="200" fill="hold">
                                          <p:stCondLst>
                                            <p:cond delay="400"/>
                                          </p:stCondLst>
                                        </p:cTn>
                                        <p:tgtEl>
                                          <p:spTgt spid="6"/>
                                        </p:tgtEl>
                                        <p:attrNameLst>
                                          <p:attrName>r</p:attrName>
                                        </p:attrNameLst>
                                      </p:cBhvr>
                                    </p:animRot>
                                    <p:animRot by="-240000">
                                      <p:cBhvr>
                                        <p:cTn id="9" dur="200" fill="hold">
                                          <p:stCondLst>
                                            <p:cond delay="600"/>
                                          </p:stCondLst>
                                        </p:cTn>
                                        <p:tgtEl>
                                          <p:spTgt spid="6"/>
                                        </p:tgtEl>
                                        <p:attrNameLst>
                                          <p:attrName>r</p:attrName>
                                        </p:attrNameLst>
                                      </p:cBhvr>
                                    </p:animRot>
                                    <p:animRot by="120000">
                                      <p:cBhvr>
                                        <p:cTn id="10" dur="200" fill="hold">
                                          <p:stCondLst>
                                            <p:cond delay="800"/>
                                          </p:stCondLst>
                                        </p:cTn>
                                        <p:tgtEl>
                                          <p:spTgt spid="6"/>
                                        </p:tgtEl>
                                        <p:attrNameLst>
                                          <p:attrName>r</p:attrName>
                                        </p:attrNameLst>
                                      </p:cBhvr>
                                    </p:animRot>
                                  </p:childTnLst>
                                </p:cTn>
                              </p:par>
                              <p:par>
                                <p:cTn id="11" presetID="42"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2" presetClass="emph" presetSubtype="0" fill="hold" nodeType="clickEffect">
                                  <p:stCondLst>
                                    <p:cond delay="0"/>
                                  </p:stCondLst>
                                  <p:childTnLst>
                                    <p:animRot by="120000">
                                      <p:cBhvr>
                                        <p:cTn id="19" dur="100" fill="hold">
                                          <p:stCondLst>
                                            <p:cond delay="0"/>
                                          </p:stCondLst>
                                        </p:cTn>
                                        <p:tgtEl>
                                          <p:spTgt spid="11"/>
                                        </p:tgtEl>
                                        <p:attrNameLst>
                                          <p:attrName>r</p:attrName>
                                        </p:attrNameLst>
                                      </p:cBhvr>
                                    </p:animRot>
                                    <p:animRot by="-240000">
                                      <p:cBhvr>
                                        <p:cTn id="20" dur="200" fill="hold">
                                          <p:stCondLst>
                                            <p:cond delay="200"/>
                                          </p:stCondLst>
                                        </p:cTn>
                                        <p:tgtEl>
                                          <p:spTgt spid="11"/>
                                        </p:tgtEl>
                                        <p:attrNameLst>
                                          <p:attrName>r</p:attrName>
                                        </p:attrNameLst>
                                      </p:cBhvr>
                                    </p:animRot>
                                    <p:animRot by="240000">
                                      <p:cBhvr>
                                        <p:cTn id="21" dur="200" fill="hold">
                                          <p:stCondLst>
                                            <p:cond delay="400"/>
                                          </p:stCondLst>
                                        </p:cTn>
                                        <p:tgtEl>
                                          <p:spTgt spid="11"/>
                                        </p:tgtEl>
                                        <p:attrNameLst>
                                          <p:attrName>r</p:attrName>
                                        </p:attrNameLst>
                                      </p:cBhvr>
                                    </p:animRot>
                                    <p:animRot by="-240000">
                                      <p:cBhvr>
                                        <p:cTn id="22" dur="200" fill="hold">
                                          <p:stCondLst>
                                            <p:cond delay="600"/>
                                          </p:stCondLst>
                                        </p:cTn>
                                        <p:tgtEl>
                                          <p:spTgt spid="11"/>
                                        </p:tgtEl>
                                        <p:attrNameLst>
                                          <p:attrName>r</p:attrName>
                                        </p:attrNameLst>
                                      </p:cBhvr>
                                    </p:animRot>
                                    <p:animRot by="120000">
                                      <p:cBhvr>
                                        <p:cTn id="23" dur="200" fill="hold">
                                          <p:stCondLst>
                                            <p:cond delay="800"/>
                                          </p:stCondLst>
                                        </p:cTn>
                                        <p:tgtEl>
                                          <p:spTgt spid="11"/>
                                        </p:tgtEl>
                                        <p:attrNameLst>
                                          <p:attrName>r</p:attrName>
                                        </p:attrNameLst>
                                      </p:cBhvr>
                                    </p:animRot>
                                  </p:childTnLst>
                                </p:cTn>
                              </p:par>
                              <p:par>
                                <p:cTn id="24" presetID="42"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1000"/>
                                        <p:tgtEl>
                                          <p:spTgt spid="12"/>
                                        </p:tgtEl>
                                      </p:cBhvr>
                                    </p:animEffect>
                                    <p:anim calcmode="lin" valueType="num">
                                      <p:cBhvr>
                                        <p:cTn id="27" dur="1000" fill="hold"/>
                                        <p:tgtEl>
                                          <p:spTgt spid="12"/>
                                        </p:tgtEl>
                                        <p:attrNameLst>
                                          <p:attrName>ppt_x</p:attrName>
                                        </p:attrNameLst>
                                      </p:cBhvr>
                                      <p:tavLst>
                                        <p:tav tm="0">
                                          <p:val>
                                            <p:strVal val="#ppt_x"/>
                                          </p:val>
                                        </p:tav>
                                        <p:tav tm="100000">
                                          <p:val>
                                            <p:strVal val="#ppt_x"/>
                                          </p:val>
                                        </p:tav>
                                      </p:tavLst>
                                    </p:anim>
                                    <p:anim calcmode="lin" valueType="num">
                                      <p:cBhvr>
                                        <p:cTn id="2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2" presetClass="emph" presetSubtype="0" fill="hold" nodeType="clickEffect">
                                  <p:stCondLst>
                                    <p:cond delay="0"/>
                                  </p:stCondLst>
                                  <p:childTnLst>
                                    <p:animRot by="120000">
                                      <p:cBhvr>
                                        <p:cTn id="32" dur="100" fill="hold">
                                          <p:stCondLst>
                                            <p:cond delay="0"/>
                                          </p:stCondLst>
                                        </p:cTn>
                                        <p:tgtEl>
                                          <p:spTgt spid="22"/>
                                        </p:tgtEl>
                                        <p:attrNameLst>
                                          <p:attrName>r</p:attrName>
                                        </p:attrNameLst>
                                      </p:cBhvr>
                                    </p:animRot>
                                    <p:animRot by="-240000">
                                      <p:cBhvr>
                                        <p:cTn id="33" dur="200" fill="hold">
                                          <p:stCondLst>
                                            <p:cond delay="200"/>
                                          </p:stCondLst>
                                        </p:cTn>
                                        <p:tgtEl>
                                          <p:spTgt spid="22"/>
                                        </p:tgtEl>
                                        <p:attrNameLst>
                                          <p:attrName>r</p:attrName>
                                        </p:attrNameLst>
                                      </p:cBhvr>
                                    </p:animRot>
                                    <p:animRot by="240000">
                                      <p:cBhvr>
                                        <p:cTn id="34" dur="200" fill="hold">
                                          <p:stCondLst>
                                            <p:cond delay="400"/>
                                          </p:stCondLst>
                                        </p:cTn>
                                        <p:tgtEl>
                                          <p:spTgt spid="22"/>
                                        </p:tgtEl>
                                        <p:attrNameLst>
                                          <p:attrName>r</p:attrName>
                                        </p:attrNameLst>
                                      </p:cBhvr>
                                    </p:animRot>
                                    <p:animRot by="-240000">
                                      <p:cBhvr>
                                        <p:cTn id="35" dur="200" fill="hold">
                                          <p:stCondLst>
                                            <p:cond delay="600"/>
                                          </p:stCondLst>
                                        </p:cTn>
                                        <p:tgtEl>
                                          <p:spTgt spid="22"/>
                                        </p:tgtEl>
                                        <p:attrNameLst>
                                          <p:attrName>r</p:attrName>
                                        </p:attrNameLst>
                                      </p:cBhvr>
                                    </p:animRot>
                                    <p:animRot by="120000">
                                      <p:cBhvr>
                                        <p:cTn id="36" dur="200" fill="hold">
                                          <p:stCondLst>
                                            <p:cond delay="800"/>
                                          </p:stCondLst>
                                        </p:cTn>
                                        <p:tgtEl>
                                          <p:spTgt spid="22"/>
                                        </p:tgtEl>
                                        <p:attrNameLst>
                                          <p:attrName>r</p:attrName>
                                        </p:attrNameLst>
                                      </p:cBhvr>
                                    </p:animRot>
                                  </p:childTnLst>
                                </p:cTn>
                              </p:par>
                              <p:par>
                                <p:cTn id="37" presetID="42"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1000"/>
                                        <p:tgtEl>
                                          <p:spTgt spid="13"/>
                                        </p:tgtEl>
                                      </p:cBhvr>
                                    </p:animEffect>
                                    <p:anim calcmode="lin" valueType="num">
                                      <p:cBhvr>
                                        <p:cTn id="40" dur="1000" fill="hold"/>
                                        <p:tgtEl>
                                          <p:spTgt spid="13"/>
                                        </p:tgtEl>
                                        <p:attrNameLst>
                                          <p:attrName>ppt_x</p:attrName>
                                        </p:attrNameLst>
                                      </p:cBhvr>
                                      <p:tavLst>
                                        <p:tav tm="0">
                                          <p:val>
                                            <p:strVal val="#ppt_x"/>
                                          </p:val>
                                        </p:tav>
                                        <p:tav tm="100000">
                                          <p:val>
                                            <p:strVal val="#ppt_x"/>
                                          </p:val>
                                        </p:tav>
                                      </p:tavLst>
                                    </p:anim>
                                    <p:anim calcmode="lin" valueType="num">
                                      <p:cBhvr>
                                        <p:cTn id="4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32" presetClass="emph" presetSubtype="0" fill="hold" nodeType="clickEffect">
                                  <p:stCondLst>
                                    <p:cond delay="0"/>
                                  </p:stCondLst>
                                  <p:childTnLst>
                                    <p:animRot by="120000">
                                      <p:cBhvr>
                                        <p:cTn id="45" dur="100" fill="hold">
                                          <p:stCondLst>
                                            <p:cond delay="0"/>
                                          </p:stCondLst>
                                        </p:cTn>
                                        <p:tgtEl>
                                          <p:spTgt spid="24"/>
                                        </p:tgtEl>
                                        <p:attrNameLst>
                                          <p:attrName>r</p:attrName>
                                        </p:attrNameLst>
                                      </p:cBhvr>
                                    </p:animRot>
                                    <p:animRot by="-240000">
                                      <p:cBhvr>
                                        <p:cTn id="46" dur="200" fill="hold">
                                          <p:stCondLst>
                                            <p:cond delay="200"/>
                                          </p:stCondLst>
                                        </p:cTn>
                                        <p:tgtEl>
                                          <p:spTgt spid="24"/>
                                        </p:tgtEl>
                                        <p:attrNameLst>
                                          <p:attrName>r</p:attrName>
                                        </p:attrNameLst>
                                      </p:cBhvr>
                                    </p:animRot>
                                    <p:animRot by="240000">
                                      <p:cBhvr>
                                        <p:cTn id="47" dur="200" fill="hold">
                                          <p:stCondLst>
                                            <p:cond delay="400"/>
                                          </p:stCondLst>
                                        </p:cTn>
                                        <p:tgtEl>
                                          <p:spTgt spid="24"/>
                                        </p:tgtEl>
                                        <p:attrNameLst>
                                          <p:attrName>r</p:attrName>
                                        </p:attrNameLst>
                                      </p:cBhvr>
                                    </p:animRot>
                                    <p:animRot by="-240000">
                                      <p:cBhvr>
                                        <p:cTn id="48" dur="200" fill="hold">
                                          <p:stCondLst>
                                            <p:cond delay="600"/>
                                          </p:stCondLst>
                                        </p:cTn>
                                        <p:tgtEl>
                                          <p:spTgt spid="24"/>
                                        </p:tgtEl>
                                        <p:attrNameLst>
                                          <p:attrName>r</p:attrName>
                                        </p:attrNameLst>
                                      </p:cBhvr>
                                    </p:animRot>
                                    <p:animRot by="120000">
                                      <p:cBhvr>
                                        <p:cTn id="49" dur="200" fill="hold">
                                          <p:stCondLst>
                                            <p:cond delay="800"/>
                                          </p:stCondLst>
                                        </p:cTn>
                                        <p:tgtEl>
                                          <p:spTgt spid="24"/>
                                        </p:tgtEl>
                                        <p:attrNameLst>
                                          <p:attrName>r</p:attrName>
                                        </p:attrNameLst>
                                      </p:cBhvr>
                                    </p:animRot>
                                  </p:childTnLst>
                                </p:cTn>
                              </p:par>
                              <p:par>
                                <p:cTn id="50" presetID="42"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1000"/>
                                        <p:tgtEl>
                                          <p:spTgt spid="25"/>
                                        </p:tgtEl>
                                      </p:cBhvr>
                                    </p:animEffect>
                                    <p:anim calcmode="lin" valueType="num">
                                      <p:cBhvr>
                                        <p:cTn id="53" dur="1000" fill="hold"/>
                                        <p:tgtEl>
                                          <p:spTgt spid="25"/>
                                        </p:tgtEl>
                                        <p:attrNameLst>
                                          <p:attrName>ppt_x</p:attrName>
                                        </p:attrNameLst>
                                      </p:cBhvr>
                                      <p:tavLst>
                                        <p:tav tm="0">
                                          <p:val>
                                            <p:strVal val="#ppt_x"/>
                                          </p:val>
                                        </p:tav>
                                        <p:tav tm="100000">
                                          <p:val>
                                            <p:strVal val="#ppt_x"/>
                                          </p:val>
                                        </p:tav>
                                      </p:tavLst>
                                    </p:anim>
                                    <p:anim calcmode="lin" valueType="num">
                                      <p:cBhvr>
                                        <p:cTn id="5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3"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24CB9-E754-4DC2-A5AF-AC1DA408DEE5}"/>
              </a:ext>
            </a:extLst>
          </p:cNvPr>
          <p:cNvSpPr>
            <a:spLocks noGrp="1"/>
          </p:cNvSpPr>
          <p:nvPr>
            <p:ph type="title"/>
          </p:nvPr>
        </p:nvSpPr>
        <p:spPr>
          <a:xfrm>
            <a:off x="838200" y="161605"/>
            <a:ext cx="10515600" cy="1325563"/>
          </a:xfrm>
        </p:spPr>
        <p:txBody>
          <a:bodyPr>
            <a:normAutofit/>
          </a:bodyPr>
          <a:lstStyle/>
          <a:p>
            <a:pPr marL="0" marR="0" lvl="0" indent="0" algn="ctr">
              <a:spcAft>
                <a:spcPts val="0"/>
              </a:spcAft>
            </a:pPr>
            <a:r>
              <a:rPr lang="en-IN" b="1" dirty="0">
                <a:ln w="12700">
                  <a:solidFill>
                    <a:srgbClr val="002060"/>
                  </a:solidFill>
                  <a:prstDash val="solid"/>
                </a:ln>
                <a:solidFill>
                  <a:srgbClr val="002060"/>
                </a:solidFill>
                <a:effectLst>
                  <a:glow rad="63500">
                    <a:schemeClr val="accent5">
                      <a:satMod val="175000"/>
                      <a:alpha val="40000"/>
                    </a:schemeClr>
                  </a:glow>
                </a:effectLst>
                <a:sym typeface="Times New Roman"/>
              </a:rPr>
              <a:t>Summary of Work Done</a:t>
            </a:r>
          </a:p>
        </p:txBody>
      </p:sp>
      <p:grpSp>
        <p:nvGrpSpPr>
          <p:cNvPr id="14" name="Group 13">
            <a:extLst>
              <a:ext uri="{FF2B5EF4-FFF2-40B4-BE49-F238E27FC236}">
                <a16:creationId xmlns:a16="http://schemas.microsoft.com/office/drawing/2014/main" id="{9971471B-DF6B-4AB8-9868-E9B34CB5468E}"/>
              </a:ext>
            </a:extLst>
          </p:cNvPr>
          <p:cNvGrpSpPr/>
          <p:nvPr/>
        </p:nvGrpSpPr>
        <p:grpSpPr>
          <a:xfrm>
            <a:off x="-10160" y="5842000"/>
            <a:ext cx="12207699" cy="882978"/>
            <a:chOff x="-10160" y="5638921"/>
            <a:chExt cx="12207699" cy="1086057"/>
          </a:xfrm>
        </p:grpSpPr>
        <p:cxnSp>
          <p:nvCxnSpPr>
            <p:cNvPr id="15" name="Straight Connector 14">
              <a:extLst>
                <a:ext uri="{FF2B5EF4-FFF2-40B4-BE49-F238E27FC236}">
                  <a16:creationId xmlns:a16="http://schemas.microsoft.com/office/drawing/2014/main" id="{C4E495DD-850F-4B35-98E9-B5FE6A8C9ABA}"/>
                </a:ext>
              </a:extLst>
            </p:cNvPr>
            <p:cNvCxnSpPr>
              <a:cxnSpLocks/>
            </p:cNvCxnSpPr>
            <p:nvPr/>
          </p:nvCxnSpPr>
          <p:spPr>
            <a:xfrm>
              <a:off x="-10160" y="5638921"/>
              <a:ext cx="12207699"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D42C6972-FE84-49EC-98BC-4A166C5CBCBE}"/>
                </a:ext>
              </a:extLst>
            </p:cNvPr>
            <p:cNvGrpSpPr/>
            <p:nvPr/>
          </p:nvGrpSpPr>
          <p:grpSpPr>
            <a:xfrm>
              <a:off x="1789931" y="5718176"/>
              <a:ext cx="8612137" cy="1006802"/>
              <a:chOff x="1217226" y="5598336"/>
              <a:chExt cx="8612137" cy="1006802"/>
            </a:xfrm>
          </p:grpSpPr>
          <p:sp>
            <p:nvSpPr>
              <p:cNvPr id="17" name="Google Shape;46;p2">
                <a:extLst>
                  <a:ext uri="{FF2B5EF4-FFF2-40B4-BE49-F238E27FC236}">
                    <a16:creationId xmlns:a16="http://schemas.microsoft.com/office/drawing/2014/main" id="{608F0EF0-1D83-4D5C-B8AE-F6E648770AAB}"/>
                  </a:ext>
                </a:extLst>
              </p:cNvPr>
              <p:cNvSpPr txBox="1"/>
              <p:nvPr/>
            </p:nvSpPr>
            <p:spPr>
              <a:xfrm>
                <a:off x="1844787" y="5927387"/>
                <a:ext cx="7984576" cy="3487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600" b="1" i="1" u="none" strike="noStrike" cap="none" dirty="0">
                    <a:solidFill>
                      <a:srgbClr val="002060"/>
                    </a:solidFill>
                    <a:latin typeface="Times New Roman"/>
                    <a:ea typeface="Times New Roman"/>
                    <a:cs typeface="Times New Roman"/>
                    <a:sym typeface="Times New Roman"/>
                  </a:rPr>
                  <a:t>Department of Computer Science &amp; Engineering</a:t>
                </a:r>
                <a:r>
                  <a:rPr lang="en-US" sz="1600" b="1" i="1" dirty="0">
                    <a:solidFill>
                      <a:srgbClr val="002060"/>
                    </a:solidFill>
                    <a:latin typeface="Times New Roman"/>
                    <a:ea typeface="Times New Roman"/>
                    <a:cs typeface="Times New Roman"/>
                    <a:sym typeface="Times New Roman"/>
                  </a:rPr>
                  <a:t> (</a:t>
                </a:r>
                <a:r>
                  <a:rPr lang="en-US" sz="1600" b="1" i="1" dirty="0" err="1">
                    <a:solidFill>
                      <a:srgbClr val="002060"/>
                    </a:solidFill>
                    <a:latin typeface="Times New Roman"/>
                    <a:ea typeface="Times New Roman"/>
                    <a:cs typeface="Times New Roman"/>
                    <a:sym typeface="Times New Roman"/>
                  </a:rPr>
                  <a:t>IoTCSBCT</a:t>
                </a:r>
                <a:r>
                  <a:rPr lang="en-US" sz="1600" b="1" i="1" dirty="0">
                    <a:solidFill>
                      <a:srgbClr val="002060"/>
                    </a:solidFill>
                    <a:latin typeface="Times New Roman"/>
                    <a:ea typeface="Times New Roman"/>
                    <a:cs typeface="Times New Roman"/>
                    <a:sym typeface="Times New Roman"/>
                  </a:rPr>
                  <a:t>), MHSSCE, Mumbai</a:t>
                </a:r>
                <a:endParaRPr sz="1600" b="1" i="1" u="none" strike="noStrike" cap="none" dirty="0">
                  <a:solidFill>
                    <a:srgbClr val="002060"/>
                  </a:solidFill>
                  <a:latin typeface="Times New Roman"/>
                  <a:ea typeface="Times New Roman"/>
                  <a:cs typeface="Times New Roman"/>
                  <a:sym typeface="Times New Roman"/>
                </a:endParaRPr>
              </a:p>
            </p:txBody>
          </p:sp>
          <p:pic>
            <p:nvPicPr>
              <p:cNvPr id="18" name="Picture 8" descr="EOTY(Engineer Of The Year) – MHSSCOE ACM CHAPTER">
                <a:extLst>
                  <a:ext uri="{FF2B5EF4-FFF2-40B4-BE49-F238E27FC236}">
                    <a16:creationId xmlns:a16="http://schemas.microsoft.com/office/drawing/2014/main" id="{D2575DEC-FC58-4B4D-861F-4A8FFC52BB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226" y="5598336"/>
                <a:ext cx="1011297" cy="1006802"/>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5" name="Group 24">
            <a:extLst>
              <a:ext uri="{FF2B5EF4-FFF2-40B4-BE49-F238E27FC236}">
                <a16:creationId xmlns:a16="http://schemas.microsoft.com/office/drawing/2014/main" id="{63FEA3C7-F2CD-15D3-93E6-FB29EF889572}"/>
              </a:ext>
            </a:extLst>
          </p:cNvPr>
          <p:cNvGrpSpPr/>
          <p:nvPr/>
        </p:nvGrpSpPr>
        <p:grpSpPr>
          <a:xfrm>
            <a:off x="0" y="1474479"/>
            <a:ext cx="5746816" cy="4133050"/>
            <a:chOff x="19250" y="1628485"/>
            <a:chExt cx="5746816" cy="4133050"/>
          </a:xfrm>
        </p:grpSpPr>
        <p:pic>
          <p:nvPicPr>
            <p:cNvPr id="8" name="Picture 7">
              <a:extLst>
                <a:ext uri="{FF2B5EF4-FFF2-40B4-BE49-F238E27FC236}">
                  <a16:creationId xmlns:a16="http://schemas.microsoft.com/office/drawing/2014/main" id="{11E57063-174D-F2A7-80E5-0B8A3FD351DA}"/>
                </a:ext>
              </a:extLst>
            </p:cNvPr>
            <p:cNvPicPr>
              <a:picLocks noChangeAspect="1"/>
            </p:cNvPicPr>
            <p:nvPr/>
          </p:nvPicPr>
          <p:blipFill>
            <a:blip r:embed="rId3">
              <a:alphaModFix amt="20000"/>
            </a:blip>
            <a:stretch>
              <a:fillRect/>
            </a:stretch>
          </p:blipFill>
          <p:spPr>
            <a:xfrm>
              <a:off x="19250" y="1628485"/>
              <a:ext cx="5746816" cy="4133050"/>
            </a:xfrm>
            <a:prstGeom prst="rect">
              <a:avLst/>
            </a:prstGeom>
            <a:ln>
              <a:solidFill>
                <a:schemeClr val="tx1"/>
              </a:solidFill>
            </a:ln>
            <a:effectLst>
              <a:softEdge rad="38100"/>
            </a:effectLst>
          </p:spPr>
        </p:pic>
        <p:pic>
          <p:nvPicPr>
            <p:cNvPr id="12" name="Picture 11">
              <a:extLst>
                <a:ext uri="{FF2B5EF4-FFF2-40B4-BE49-F238E27FC236}">
                  <a16:creationId xmlns:a16="http://schemas.microsoft.com/office/drawing/2014/main" id="{49C5FD9F-0BCB-F1AD-D323-ECC98423E88F}"/>
                </a:ext>
              </a:extLst>
            </p:cNvPr>
            <p:cNvPicPr>
              <a:picLocks noChangeAspect="1"/>
            </p:cNvPicPr>
            <p:nvPr/>
          </p:nvPicPr>
          <p:blipFill>
            <a:blip r:embed="rId4"/>
            <a:stretch>
              <a:fillRect/>
            </a:stretch>
          </p:blipFill>
          <p:spPr>
            <a:xfrm>
              <a:off x="2133546" y="2838648"/>
              <a:ext cx="914400" cy="914400"/>
            </a:xfrm>
            <a:prstGeom prst="rect">
              <a:avLst/>
            </a:prstGeom>
            <a:ln>
              <a:noFill/>
            </a:ln>
            <a:effectLst>
              <a:glow rad="101600">
                <a:srgbClr val="FD17DC">
                  <a:alpha val="60000"/>
                </a:srgbClr>
              </a:glow>
            </a:effectLst>
          </p:spPr>
        </p:pic>
        <p:sp>
          <p:nvSpPr>
            <p:cNvPr id="19" name="TextBox 18">
              <a:extLst>
                <a:ext uri="{FF2B5EF4-FFF2-40B4-BE49-F238E27FC236}">
                  <a16:creationId xmlns:a16="http://schemas.microsoft.com/office/drawing/2014/main" id="{CD6838B4-F8C0-C407-308F-6F3A114A35F4}"/>
                </a:ext>
              </a:extLst>
            </p:cNvPr>
            <p:cNvSpPr txBox="1"/>
            <p:nvPr/>
          </p:nvSpPr>
          <p:spPr>
            <a:xfrm>
              <a:off x="768416" y="2038953"/>
              <a:ext cx="3734602" cy="523220"/>
            </a:xfrm>
            <a:prstGeom prst="rect">
              <a:avLst/>
            </a:prstGeom>
            <a:noFill/>
          </p:spPr>
          <p:txBody>
            <a:bodyPr wrap="square" rtlCol="0">
              <a:spAutoFit/>
            </a:bodyPr>
            <a:lstStyle/>
            <a:p>
              <a:pPr algn="ctr"/>
              <a:r>
                <a:rPr lang="en-US" sz="2800" b="1" dirty="0">
                  <a:ln w="0">
                    <a:solidFill>
                      <a:schemeClr val="accent1"/>
                    </a:solidFill>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FRONT-END</a:t>
              </a:r>
            </a:p>
          </p:txBody>
        </p:sp>
        <p:sp>
          <p:nvSpPr>
            <p:cNvPr id="22" name="TextBox 21">
              <a:extLst>
                <a:ext uri="{FF2B5EF4-FFF2-40B4-BE49-F238E27FC236}">
                  <a16:creationId xmlns:a16="http://schemas.microsoft.com/office/drawing/2014/main" id="{30E89B45-C7B9-BEBF-E2DC-1011A8B0DE04}"/>
                </a:ext>
              </a:extLst>
            </p:cNvPr>
            <p:cNvSpPr txBox="1"/>
            <p:nvPr/>
          </p:nvSpPr>
          <p:spPr>
            <a:xfrm>
              <a:off x="279132" y="4013732"/>
              <a:ext cx="5149515" cy="1384995"/>
            </a:xfrm>
            <a:prstGeom prst="rect">
              <a:avLst/>
            </a:prstGeom>
            <a:noFill/>
          </p:spPr>
          <p:txBody>
            <a:bodyPr wrap="square" rtlCol="0">
              <a:spAutoFit/>
            </a:bodyPr>
            <a:lstStyle/>
            <a:p>
              <a:pPr algn="just"/>
              <a:r>
                <a:rPr lang="en-US" sz="1400">
                  <a:latin typeface="Aerial"/>
                </a:rPr>
                <a:t>The frontend of the system was developed using HTML, CSS, and JavaScript to create an interactive and user-friendly voting interface. MetaMask integration was implemented to enable secure wallet-based authentication and allow users to connect to the Ethereum blockchain seamlessly. The interface allows voters to register, cast votes, and view election results in real time.</a:t>
              </a:r>
              <a:endParaRPr lang="en-US" sz="1400" dirty="0">
                <a:latin typeface="Aerial"/>
              </a:endParaRPr>
            </a:p>
          </p:txBody>
        </p:sp>
      </p:grpSp>
      <p:grpSp>
        <p:nvGrpSpPr>
          <p:cNvPr id="27" name="Group 26">
            <a:extLst>
              <a:ext uri="{FF2B5EF4-FFF2-40B4-BE49-F238E27FC236}">
                <a16:creationId xmlns:a16="http://schemas.microsoft.com/office/drawing/2014/main" id="{CEAB9651-E033-BBD1-38D7-DBB2C15369E9}"/>
              </a:ext>
            </a:extLst>
          </p:cNvPr>
          <p:cNvGrpSpPr/>
          <p:nvPr/>
        </p:nvGrpSpPr>
        <p:grpSpPr>
          <a:xfrm>
            <a:off x="6457905" y="1490510"/>
            <a:ext cx="5746816" cy="4133050"/>
            <a:chOff x="6409780" y="1644516"/>
            <a:chExt cx="5746816" cy="4133050"/>
          </a:xfrm>
        </p:grpSpPr>
        <p:pic>
          <p:nvPicPr>
            <p:cNvPr id="9" name="Picture 8">
              <a:extLst>
                <a:ext uri="{FF2B5EF4-FFF2-40B4-BE49-F238E27FC236}">
                  <a16:creationId xmlns:a16="http://schemas.microsoft.com/office/drawing/2014/main" id="{33AC84D5-C6A7-F56C-7D3C-64F0779213FE}"/>
                </a:ext>
              </a:extLst>
            </p:cNvPr>
            <p:cNvPicPr>
              <a:picLocks noChangeAspect="1"/>
            </p:cNvPicPr>
            <p:nvPr/>
          </p:nvPicPr>
          <p:blipFill>
            <a:blip r:embed="rId3">
              <a:alphaModFix amt="20000"/>
            </a:blip>
            <a:stretch>
              <a:fillRect/>
            </a:stretch>
          </p:blipFill>
          <p:spPr>
            <a:xfrm>
              <a:off x="6409780" y="1644516"/>
              <a:ext cx="5746816" cy="4133050"/>
            </a:xfrm>
            <a:prstGeom prst="rect">
              <a:avLst/>
            </a:prstGeom>
            <a:ln>
              <a:solidFill>
                <a:schemeClr val="tx1"/>
              </a:solidFill>
            </a:ln>
            <a:effectLst>
              <a:softEdge rad="38100"/>
            </a:effectLst>
          </p:spPr>
        </p:pic>
        <p:sp>
          <p:nvSpPr>
            <p:cNvPr id="13" name="TextBox 12">
              <a:extLst>
                <a:ext uri="{FF2B5EF4-FFF2-40B4-BE49-F238E27FC236}">
                  <a16:creationId xmlns:a16="http://schemas.microsoft.com/office/drawing/2014/main" id="{428FB0E7-6B6B-9CBC-3B8C-D1EC2487FB8A}"/>
                </a:ext>
              </a:extLst>
            </p:cNvPr>
            <p:cNvSpPr txBox="1"/>
            <p:nvPr/>
          </p:nvSpPr>
          <p:spPr>
            <a:xfrm>
              <a:off x="7415887" y="2038953"/>
              <a:ext cx="3734602" cy="523220"/>
            </a:xfrm>
            <a:prstGeom prst="rect">
              <a:avLst/>
            </a:prstGeom>
            <a:noFill/>
          </p:spPr>
          <p:txBody>
            <a:bodyPr wrap="square" rtlCol="0">
              <a:spAutoFit/>
            </a:bodyPr>
            <a:lstStyle/>
            <a:p>
              <a:pPr algn="ctr"/>
              <a:r>
                <a:rPr lang="en-US" sz="2800" b="1" dirty="0">
                  <a:ln w="0">
                    <a:solidFill>
                      <a:schemeClr val="accent1"/>
                    </a:solidFill>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BACK-END</a:t>
              </a:r>
            </a:p>
          </p:txBody>
        </p:sp>
        <p:pic>
          <p:nvPicPr>
            <p:cNvPr id="21" name="Picture 20">
              <a:extLst>
                <a:ext uri="{FF2B5EF4-FFF2-40B4-BE49-F238E27FC236}">
                  <a16:creationId xmlns:a16="http://schemas.microsoft.com/office/drawing/2014/main" id="{1E16F564-6FA8-6C17-13C1-F8A094C59103}"/>
                </a:ext>
              </a:extLst>
            </p:cNvPr>
            <p:cNvPicPr>
              <a:picLocks noChangeAspect="1"/>
            </p:cNvPicPr>
            <p:nvPr/>
          </p:nvPicPr>
          <p:blipFill>
            <a:blip r:embed="rId5"/>
            <a:stretch>
              <a:fillRect/>
            </a:stretch>
          </p:blipFill>
          <p:spPr>
            <a:xfrm>
              <a:off x="8825988" y="2780610"/>
              <a:ext cx="914400" cy="914400"/>
            </a:xfrm>
            <a:prstGeom prst="rect">
              <a:avLst/>
            </a:prstGeom>
            <a:effectLst>
              <a:glow rad="101600">
                <a:srgbClr val="FF0000">
                  <a:alpha val="60000"/>
                </a:srgbClr>
              </a:glow>
            </a:effectLst>
          </p:spPr>
        </p:pic>
        <p:sp>
          <p:nvSpPr>
            <p:cNvPr id="23" name="TextBox 22">
              <a:extLst>
                <a:ext uri="{FF2B5EF4-FFF2-40B4-BE49-F238E27FC236}">
                  <a16:creationId xmlns:a16="http://schemas.microsoft.com/office/drawing/2014/main" id="{C248A713-416D-3DB1-00F3-53724D3694CA}"/>
                </a:ext>
              </a:extLst>
            </p:cNvPr>
            <p:cNvSpPr txBox="1"/>
            <p:nvPr/>
          </p:nvSpPr>
          <p:spPr>
            <a:xfrm>
              <a:off x="6736102" y="4002502"/>
              <a:ext cx="5149515" cy="1600438"/>
            </a:xfrm>
            <a:prstGeom prst="rect">
              <a:avLst/>
            </a:prstGeom>
            <a:noFill/>
          </p:spPr>
          <p:txBody>
            <a:bodyPr wrap="square" rtlCol="0">
              <a:spAutoFit/>
            </a:bodyPr>
            <a:lstStyle/>
            <a:p>
              <a:pPr algn="just"/>
              <a:r>
                <a:rPr lang="en-US" sz="1400" dirty="0"/>
                <a:t>On the backend, Node.js was used to manage application logic and handle communication between the frontend and the blockchain. Smart contracts were written in Solidity and deployed on the Ethereum platform to securely manage voter verification, vote casting, and automatic vote counting. Web3.js was integrated to connect the application with the blockchain, while Ganache was used for local blockchain testing and development.</a:t>
              </a:r>
              <a:endParaRPr lang="en-US" sz="1400" dirty="0">
                <a:latin typeface="Aerial"/>
              </a:endParaRPr>
            </a:p>
          </p:txBody>
        </p:sp>
      </p:grpSp>
      <p:sp>
        <p:nvSpPr>
          <p:cNvPr id="36" name="Title 1">
            <a:extLst>
              <a:ext uri="{FF2B5EF4-FFF2-40B4-BE49-F238E27FC236}">
                <a16:creationId xmlns:a16="http://schemas.microsoft.com/office/drawing/2014/main" id="{4B54375C-EC1B-DC9C-D08D-D2B06E41896E}"/>
              </a:ext>
            </a:extLst>
          </p:cNvPr>
          <p:cNvSpPr txBox="1">
            <a:spLocks/>
          </p:cNvSpPr>
          <p:nvPr/>
        </p:nvSpPr>
        <p:spPr>
          <a:xfrm>
            <a:off x="838200" y="-198865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ln w="12700">
                  <a:solidFill>
                    <a:srgbClr val="002060"/>
                  </a:solidFill>
                  <a:prstDash val="solid"/>
                </a:ln>
                <a:solidFill>
                  <a:srgbClr val="002060"/>
                </a:solidFill>
                <a:effectLst>
                  <a:glow rad="63500">
                    <a:schemeClr val="accent5">
                      <a:satMod val="175000"/>
                      <a:alpha val="40000"/>
                    </a:schemeClr>
                  </a:glow>
                </a:effectLst>
                <a:sym typeface="Times New Roman"/>
              </a:rPr>
              <a:t>Literature Review </a:t>
            </a:r>
          </a:p>
        </p:txBody>
      </p:sp>
    </p:spTree>
    <p:extLst>
      <p:ext uri="{BB962C8B-B14F-4D97-AF65-F5344CB8AC3E}">
        <p14:creationId xmlns:p14="http://schemas.microsoft.com/office/powerpoint/2010/main" val="33212154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9">
            <a:extLst>
              <a:ext uri="{FF2B5EF4-FFF2-40B4-BE49-F238E27FC236}">
                <a16:creationId xmlns:a16="http://schemas.microsoft.com/office/drawing/2014/main" id="{B3B64D11-5D82-4805-8317-781E016CF620}"/>
              </a:ext>
            </a:extLst>
          </p:cNvPr>
          <p:cNvGraphicFramePr>
            <a:graphicFrameLocks noGrp="1"/>
          </p:cNvGraphicFramePr>
          <p:nvPr>
            <p:ph idx="1"/>
            <p:extLst>
              <p:ext uri="{D42A27DB-BD31-4B8C-83A1-F6EECF244321}">
                <p14:modId xmlns:p14="http://schemas.microsoft.com/office/powerpoint/2010/main" val="2511076800"/>
              </p:ext>
            </p:extLst>
          </p:nvPr>
        </p:nvGraphicFramePr>
        <p:xfrm>
          <a:off x="607194" y="1565742"/>
          <a:ext cx="11000875" cy="4023360"/>
        </p:xfrm>
        <a:graphic>
          <a:graphicData uri="http://schemas.openxmlformats.org/drawingml/2006/table">
            <a:tbl>
              <a:tblPr firstRow="1" bandRow="1">
                <a:tableStyleId>{5C22544A-7EE6-4342-B048-85BDC9FD1C3A}</a:tableStyleId>
              </a:tblPr>
              <a:tblGrid>
                <a:gridCol w="1577741">
                  <a:extLst>
                    <a:ext uri="{9D8B030D-6E8A-4147-A177-3AD203B41FA5}">
                      <a16:colId xmlns:a16="http://schemas.microsoft.com/office/drawing/2014/main" val="3113608843"/>
                    </a:ext>
                  </a:extLst>
                </a:gridCol>
                <a:gridCol w="2387065">
                  <a:extLst>
                    <a:ext uri="{9D8B030D-6E8A-4147-A177-3AD203B41FA5}">
                      <a16:colId xmlns:a16="http://schemas.microsoft.com/office/drawing/2014/main" val="3305833487"/>
                    </a:ext>
                  </a:extLst>
                </a:gridCol>
                <a:gridCol w="2396691">
                  <a:extLst>
                    <a:ext uri="{9D8B030D-6E8A-4147-A177-3AD203B41FA5}">
                      <a16:colId xmlns:a16="http://schemas.microsoft.com/office/drawing/2014/main" val="3603931387"/>
                    </a:ext>
                  </a:extLst>
                </a:gridCol>
                <a:gridCol w="2156059">
                  <a:extLst>
                    <a:ext uri="{9D8B030D-6E8A-4147-A177-3AD203B41FA5}">
                      <a16:colId xmlns:a16="http://schemas.microsoft.com/office/drawing/2014/main" val="194284784"/>
                    </a:ext>
                  </a:extLst>
                </a:gridCol>
                <a:gridCol w="2483319">
                  <a:extLst>
                    <a:ext uri="{9D8B030D-6E8A-4147-A177-3AD203B41FA5}">
                      <a16:colId xmlns:a16="http://schemas.microsoft.com/office/drawing/2014/main" val="1748702235"/>
                    </a:ext>
                  </a:extLst>
                </a:gridCol>
              </a:tblGrid>
              <a:tr h="370840">
                <a:tc>
                  <a:txBody>
                    <a:bodyPr/>
                    <a:lstStyle/>
                    <a:p>
                      <a:pPr algn="ctr"/>
                      <a:r>
                        <a:rPr lang="en-IN" sz="1600" dirty="0"/>
                        <a:t>Year</a:t>
                      </a:r>
                    </a:p>
                  </a:txBody>
                  <a:tcPr/>
                </a:tc>
                <a:tc>
                  <a:txBody>
                    <a:bodyPr/>
                    <a:lstStyle/>
                    <a:p>
                      <a:pPr algn="ctr"/>
                      <a:r>
                        <a:rPr lang="en-IN" sz="1600" dirty="0"/>
                        <a:t>Paper Title</a:t>
                      </a:r>
                    </a:p>
                  </a:txBody>
                  <a:tcPr/>
                </a:tc>
                <a:tc>
                  <a:txBody>
                    <a:bodyPr/>
                    <a:lstStyle/>
                    <a:p>
                      <a:pPr algn="ctr"/>
                      <a:r>
                        <a:rPr lang="en-IN" sz="1600" dirty="0"/>
                        <a:t>Methodology</a:t>
                      </a:r>
                    </a:p>
                  </a:txBody>
                  <a:tcPr/>
                </a:tc>
                <a:tc>
                  <a:txBody>
                    <a:bodyPr/>
                    <a:lstStyle/>
                    <a:p>
                      <a:pPr algn="ctr"/>
                      <a:r>
                        <a:rPr lang="en-IN" sz="1600" dirty="0"/>
                        <a:t>Findings</a:t>
                      </a:r>
                    </a:p>
                  </a:txBody>
                  <a:tcPr/>
                </a:tc>
                <a:tc>
                  <a:txBody>
                    <a:bodyPr/>
                    <a:lstStyle/>
                    <a:p>
                      <a:pPr algn="ctr">
                        <a:buNone/>
                      </a:pPr>
                      <a:r>
                        <a:rPr lang="en-US" sz="1600" dirty="0"/>
                        <a:t>Improvement in Our Project</a:t>
                      </a:r>
                    </a:p>
                  </a:txBody>
                  <a:tcPr/>
                </a:tc>
                <a:extLst>
                  <a:ext uri="{0D108BD9-81ED-4DB2-BD59-A6C34878D82A}">
                    <a16:rowId xmlns:a16="http://schemas.microsoft.com/office/drawing/2014/main" val="3395533834"/>
                  </a:ext>
                </a:extLst>
              </a:tr>
              <a:tr h="370840">
                <a:tc>
                  <a:txBody>
                    <a:bodyPr/>
                    <a:lstStyle/>
                    <a:p>
                      <a:pPr algn="ctr">
                        <a:buNone/>
                      </a:pPr>
                      <a:r>
                        <a:rPr lang="en-US" sz="1400" dirty="0"/>
                        <a:t>2018</a:t>
                      </a:r>
                    </a:p>
                  </a:txBody>
                  <a:tcPr anchor="ctr"/>
                </a:tc>
                <a:tc>
                  <a:txBody>
                    <a:bodyPr/>
                    <a:lstStyle/>
                    <a:p>
                      <a:pPr>
                        <a:buNone/>
                      </a:pPr>
                      <a:r>
                        <a:rPr lang="en-US" sz="1400" dirty="0"/>
                        <a:t>Blockchain-Based E-Voting System</a:t>
                      </a:r>
                    </a:p>
                  </a:txBody>
                  <a:tcPr anchor="ctr"/>
                </a:tc>
                <a:tc>
                  <a:txBody>
                    <a:bodyPr/>
                    <a:lstStyle/>
                    <a:p>
                      <a:pPr>
                        <a:buNone/>
                      </a:pPr>
                      <a:r>
                        <a:rPr lang="en-US" sz="1400" dirty="0"/>
                        <a:t>Smart contracts for vote storage</a:t>
                      </a:r>
                    </a:p>
                  </a:txBody>
                  <a:tcPr anchor="ctr"/>
                </a:tc>
                <a:tc>
                  <a:txBody>
                    <a:bodyPr/>
                    <a:lstStyle/>
                    <a:p>
                      <a:pPr>
                        <a:buNone/>
                      </a:pPr>
                      <a:r>
                        <a:rPr lang="en-US" sz="1400" dirty="0"/>
                        <a:t>High gas fees, no instant results display</a:t>
                      </a:r>
                    </a:p>
                  </a:txBody>
                  <a:tcPr anchor="ctr"/>
                </a:tc>
                <a:tc>
                  <a:txBody>
                    <a:bodyPr/>
                    <a:lstStyle/>
                    <a:p>
                      <a:pPr>
                        <a:buNone/>
                      </a:pPr>
                      <a:r>
                        <a:rPr lang="en-US" sz="1400" dirty="0"/>
                        <a:t>Optimized contract design with real-time on-the-spot vote counting</a:t>
                      </a:r>
                    </a:p>
                  </a:txBody>
                  <a:tcPr anchor="ctr"/>
                </a:tc>
                <a:extLst>
                  <a:ext uri="{0D108BD9-81ED-4DB2-BD59-A6C34878D82A}">
                    <a16:rowId xmlns:a16="http://schemas.microsoft.com/office/drawing/2014/main" val="1259864458"/>
                  </a:ext>
                </a:extLst>
              </a:tr>
              <a:tr h="370840">
                <a:tc>
                  <a:txBody>
                    <a:bodyPr/>
                    <a:lstStyle/>
                    <a:p>
                      <a:pPr algn="ctr">
                        <a:buNone/>
                      </a:pPr>
                      <a:r>
                        <a:rPr lang="en-US" sz="1400" dirty="0"/>
                        <a:t>2019</a:t>
                      </a:r>
                    </a:p>
                  </a:txBody>
                  <a:tcPr anchor="ctr"/>
                </a:tc>
                <a:tc>
                  <a:txBody>
                    <a:bodyPr/>
                    <a:lstStyle/>
                    <a:p>
                      <a:pPr>
                        <a:buNone/>
                      </a:pPr>
                      <a:r>
                        <a:rPr lang="en-US" sz="1400" dirty="0"/>
                        <a:t>Secure E-Voting Using Blockchain</a:t>
                      </a:r>
                    </a:p>
                  </a:txBody>
                  <a:tcPr anchor="ctr"/>
                </a:tc>
                <a:tc>
                  <a:txBody>
                    <a:bodyPr/>
                    <a:lstStyle/>
                    <a:p>
                      <a:pPr>
                        <a:buNone/>
                      </a:pPr>
                      <a:r>
                        <a:rPr lang="en-US" sz="1400" dirty="0"/>
                        <a:t>Cryptographic security &amp; decentralization</a:t>
                      </a:r>
                    </a:p>
                  </a:txBody>
                  <a:tcPr anchor="ctr"/>
                </a:tc>
                <a:tc>
                  <a:txBody>
                    <a:bodyPr/>
                    <a:lstStyle/>
                    <a:p>
                      <a:pPr>
                        <a:buNone/>
                      </a:pPr>
                      <a:r>
                        <a:rPr lang="en-US" sz="1400" dirty="0"/>
                        <a:t>Limited user interface, complex voter access</a:t>
                      </a:r>
                    </a:p>
                  </a:txBody>
                  <a:tcPr anchor="ctr"/>
                </a:tc>
                <a:tc>
                  <a:txBody>
                    <a:bodyPr/>
                    <a:lstStyle/>
                    <a:p>
                      <a:pPr>
                        <a:buNone/>
                      </a:pPr>
                      <a:r>
                        <a:rPr lang="en-US" sz="1400" dirty="0"/>
                        <a:t>User-friendly frontend with MetaMask authentication</a:t>
                      </a:r>
                    </a:p>
                  </a:txBody>
                  <a:tcPr anchor="ctr"/>
                </a:tc>
                <a:extLst>
                  <a:ext uri="{0D108BD9-81ED-4DB2-BD59-A6C34878D82A}">
                    <a16:rowId xmlns:a16="http://schemas.microsoft.com/office/drawing/2014/main" val="1422245681"/>
                  </a:ext>
                </a:extLst>
              </a:tr>
              <a:tr h="370840">
                <a:tc>
                  <a:txBody>
                    <a:bodyPr/>
                    <a:lstStyle/>
                    <a:p>
                      <a:pPr algn="ctr">
                        <a:buNone/>
                      </a:pPr>
                      <a:r>
                        <a:rPr lang="en-US" sz="1400" dirty="0"/>
                        <a:t>2020</a:t>
                      </a:r>
                    </a:p>
                  </a:txBody>
                  <a:tcPr anchor="ctr"/>
                </a:tc>
                <a:tc>
                  <a:txBody>
                    <a:bodyPr/>
                    <a:lstStyle/>
                    <a:p>
                      <a:pPr>
                        <a:buNone/>
                      </a:pPr>
                      <a:r>
                        <a:rPr lang="en-US" sz="1400" dirty="0"/>
                        <a:t>Decentralized Voting </a:t>
                      </a:r>
                      <a:r>
                        <a:rPr lang="en-US" sz="1400" dirty="0" err="1"/>
                        <a:t>DApp</a:t>
                      </a:r>
                      <a:endParaRPr lang="en-US" sz="1400" dirty="0"/>
                    </a:p>
                  </a:txBody>
                  <a:tcPr anchor="ctr"/>
                </a:tc>
                <a:tc>
                  <a:txBody>
                    <a:bodyPr/>
                    <a:lstStyle/>
                    <a:p>
                      <a:pPr>
                        <a:buNone/>
                      </a:pPr>
                      <a:r>
                        <a:rPr lang="en-US" sz="1400" dirty="0"/>
                        <a:t>Ethereum-based voting platform</a:t>
                      </a:r>
                    </a:p>
                  </a:txBody>
                  <a:tcPr anchor="ctr"/>
                </a:tc>
                <a:tc>
                  <a:txBody>
                    <a:bodyPr/>
                    <a:lstStyle/>
                    <a:p>
                      <a:pPr>
                        <a:buNone/>
                      </a:pPr>
                      <a:r>
                        <a:rPr lang="en-US" sz="1400" dirty="0"/>
                        <a:t>No strong voter verification logic</a:t>
                      </a:r>
                    </a:p>
                  </a:txBody>
                  <a:tcPr anchor="ctr"/>
                </a:tc>
                <a:tc>
                  <a:txBody>
                    <a:bodyPr/>
                    <a:lstStyle/>
                    <a:p>
                      <a:pPr>
                        <a:buNone/>
                      </a:pPr>
                      <a:r>
                        <a:rPr lang="en-US" sz="1400" dirty="0"/>
                        <a:t>Secure voter validation with automated smart contract control</a:t>
                      </a:r>
                    </a:p>
                  </a:txBody>
                  <a:tcPr anchor="ctr"/>
                </a:tc>
                <a:extLst>
                  <a:ext uri="{0D108BD9-81ED-4DB2-BD59-A6C34878D82A}">
                    <a16:rowId xmlns:a16="http://schemas.microsoft.com/office/drawing/2014/main" val="4045151958"/>
                  </a:ext>
                </a:extLst>
              </a:tr>
              <a:tr h="370840">
                <a:tc>
                  <a:txBody>
                    <a:bodyPr/>
                    <a:lstStyle/>
                    <a:p>
                      <a:pPr algn="ctr">
                        <a:buNone/>
                      </a:pPr>
                      <a:r>
                        <a:rPr lang="en-US" sz="1400"/>
                        <a:t>2021</a:t>
                      </a:r>
                    </a:p>
                  </a:txBody>
                  <a:tcPr anchor="ctr"/>
                </a:tc>
                <a:tc>
                  <a:txBody>
                    <a:bodyPr/>
                    <a:lstStyle/>
                    <a:p>
                      <a:pPr>
                        <a:buNone/>
                      </a:pPr>
                      <a:r>
                        <a:rPr lang="en-US" sz="1400"/>
                        <a:t>Smart Contract Voting Framework</a:t>
                      </a:r>
                    </a:p>
                  </a:txBody>
                  <a:tcPr anchor="ctr"/>
                </a:tc>
                <a:tc>
                  <a:txBody>
                    <a:bodyPr/>
                    <a:lstStyle/>
                    <a:p>
                      <a:pPr>
                        <a:buNone/>
                      </a:pPr>
                      <a:r>
                        <a:rPr lang="en-US" sz="1400" dirty="0"/>
                        <a:t>Automated vote tallying</a:t>
                      </a:r>
                    </a:p>
                  </a:txBody>
                  <a:tcPr anchor="ctr"/>
                </a:tc>
                <a:tc>
                  <a:txBody>
                    <a:bodyPr/>
                    <a:lstStyle/>
                    <a:p>
                      <a:pPr>
                        <a:buNone/>
                      </a:pPr>
                      <a:r>
                        <a:rPr lang="en-US" sz="1400" dirty="0"/>
                        <a:t>Vulnerable to contract design flaws</a:t>
                      </a:r>
                    </a:p>
                  </a:txBody>
                  <a:tcPr anchor="ctr"/>
                </a:tc>
                <a:tc>
                  <a:txBody>
                    <a:bodyPr/>
                    <a:lstStyle/>
                    <a:p>
                      <a:pPr>
                        <a:buNone/>
                      </a:pPr>
                      <a:r>
                        <a:rPr lang="en-US" sz="1400" dirty="0"/>
                        <a:t>Tested using Ganache and structured contract logic for reliability</a:t>
                      </a:r>
                    </a:p>
                  </a:txBody>
                  <a:tcPr anchor="ctr"/>
                </a:tc>
                <a:extLst>
                  <a:ext uri="{0D108BD9-81ED-4DB2-BD59-A6C34878D82A}">
                    <a16:rowId xmlns:a16="http://schemas.microsoft.com/office/drawing/2014/main" val="3669562297"/>
                  </a:ext>
                </a:extLst>
              </a:tr>
              <a:tr h="370840">
                <a:tc>
                  <a:txBody>
                    <a:bodyPr/>
                    <a:lstStyle/>
                    <a:p>
                      <a:pPr algn="ctr">
                        <a:buNone/>
                      </a:pPr>
                      <a:r>
                        <a:rPr lang="en-US" sz="1400" dirty="0"/>
                        <a:t>2022</a:t>
                      </a:r>
                    </a:p>
                  </a:txBody>
                  <a:tcPr anchor="ctr"/>
                </a:tc>
                <a:tc>
                  <a:txBody>
                    <a:bodyPr/>
                    <a:lstStyle/>
                    <a:p>
                      <a:pPr>
                        <a:buNone/>
                      </a:pPr>
                      <a:r>
                        <a:rPr lang="en-US" sz="1400"/>
                        <a:t>Hybrid Blockchain Voting Model</a:t>
                      </a:r>
                    </a:p>
                  </a:txBody>
                  <a:tcPr anchor="ctr"/>
                </a:tc>
                <a:tc>
                  <a:txBody>
                    <a:bodyPr/>
                    <a:lstStyle/>
                    <a:p>
                      <a:pPr>
                        <a:buNone/>
                      </a:pPr>
                      <a:r>
                        <a:rPr lang="en-US" sz="1400"/>
                        <a:t>Combined traditional + blockchain methods</a:t>
                      </a:r>
                    </a:p>
                  </a:txBody>
                  <a:tcPr anchor="ctr"/>
                </a:tc>
                <a:tc>
                  <a:txBody>
                    <a:bodyPr/>
                    <a:lstStyle/>
                    <a:p>
                      <a:pPr>
                        <a:buNone/>
                      </a:pPr>
                      <a:r>
                        <a:rPr lang="en-US" sz="1400"/>
                        <a:t>Increased complexity, partial centralization</a:t>
                      </a:r>
                    </a:p>
                  </a:txBody>
                  <a:tcPr anchor="ctr"/>
                </a:tc>
                <a:tc>
                  <a:txBody>
                    <a:bodyPr/>
                    <a:lstStyle/>
                    <a:p>
                      <a:pPr>
                        <a:buNone/>
                      </a:pPr>
                      <a:r>
                        <a:rPr lang="en-US" sz="1400" dirty="0"/>
                        <a:t>Fully decentralized architecture with transparent real-time results</a:t>
                      </a:r>
                    </a:p>
                  </a:txBody>
                  <a:tcPr anchor="ctr"/>
                </a:tc>
                <a:extLst>
                  <a:ext uri="{0D108BD9-81ED-4DB2-BD59-A6C34878D82A}">
                    <a16:rowId xmlns:a16="http://schemas.microsoft.com/office/drawing/2014/main" val="1181142944"/>
                  </a:ext>
                </a:extLst>
              </a:tr>
            </a:tbl>
          </a:graphicData>
        </a:graphic>
      </p:graphicFrame>
      <p:grpSp>
        <p:nvGrpSpPr>
          <p:cNvPr id="10" name="Group 9">
            <a:extLst>
              <a:ext uri="{FF2B5EF4-FFF2-40B4-BE49-F238E27FC236}">
                <a16:creationId xmlns:a16="http://schemas.microsoft.com/office/drawing/2014/main" id="{CBD20BE2-A8C1-4E0B-9A23-39A114AC6796}"/>
              </a:ext>
            </a:extLst>
          </p:cNvPr>
          <p:cNvGrpSpPr/>
          <p:nvPr/>
        </p:nvGrpSpPr>
        <p:grpSpPr>
          <a:xfrm>
            <a:off x="-10160" y="5842000"/>
            <a:ext cx="12207699" cy="882978"/>
            <a:chOff x="-10160" y="5638921"/>
            <a:chExt cx="12207699" cy="1086057"/>
          </a:xfrm>
        </p:grpSpPr>
        <p:cxnSp>
          <p:nvCxnSpPr>
            <p:cNvPr id="11" name="Straight Connector 10">
              <a:extLst>
                <a:ext uri="{FF2B5EF4-FFF2-40B4-BE49-F238E27FC236}">
                  <a16:creationId xmlns:a16="http://schemas.microsoft.com/office/drawing/2014/main" id="{E0A8E6FE-79AA-4D34-8065-43A839DAD6F3}"/>
                </a:ext>
              </a:extLst>
            </p:cNvPr>
            <p:cNvCxnSpPr>
              <a:cxnSpLocks/>
            </p:cNvCxnSpPr>
            <p:nvPr/>
          </p:nvCxnSpPr>
          <p:spPr>
            <a:xfrm>
              <a:off x="-10160" y="5638921"/>
              <a:ext cx="12207699"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374364F9-A917-4D0E-B17A-72881B7D59EB}"/>
                </a:ext>
              </a:extLst>
            </p:cNvPr>
            <p:cNvGrpSpPr/>
            <p:nvPr/>
          </p:nvGrpSpPr>
          <p:grpSpPr>
            <a:xfrm>
              <a:off x="1789931" y="5718176"/>
              <a:ext cx="8612137" cy="1006802"/>
              <a:chOff x="1217226" y="5598336"/>
              <a:chExt cx="8612137" cy="1006802"/>
            </a:xfrm>
          </p:grpSpPr>
          <p:sp>
            <p:nvSpPr>
              <p:cNvPr id="13" name="Google Shape;46;p2">
                <a:extLst>
                  <a:ext uri="{FF2B5EF4-FFF2-40B4-BE49-F238E27FC236}">
                    <a16:creationId xmlns:a16="http://schemas.microsoft.com/office/drawing/2014/main" id="{D95CE4C8-B7A1-4013-B371-426C4160F39B}"/>
                  </a:ext>
                </a:extLst>
              </p:cNvPr>
              <p:cNvSpPr txBox="1"/>
              <p:nvPr/>
            </p:nvSpPr>
            <p:spPr>
              <a:xfrm>
                <a:off x="1844787" y="5927387"/>
                <a:ext cx="7984576" cy="3487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600" b="1" i="1" u="none" strike="noStrike" cap="none" dirty="0">
                    <a:solidFill>
                      <a:srgbClr val="002060"/>
                    </a:solidFill>
                    <a:latin typeface="Times New Roman"/>
                    <a:ea typeface="Times New Roman"/>
                    <a:cs typeface="Times New Roman"/>
                    <a:sym typeface="Times New Roman"/>
                  </a:rPr>
                  <a:t>Department of Computer Science &amp; Engineering</a:t>
                </a:r>
                <a:r>
                  <a:rPr lang="en-US" sz="1600" b="1" i="1" dirty="0">
                    <a:solidFill>
                      <a:srgbClr val="002060"/>
                    </a:solidFill>
                    <a:latin typeface="Times New Roman"/>
                    <a:ea typeface="Times New Roman"/>
                    <a:cs typeface="Times New Roman"/>
                    <a:sym typeface="Times New Roman"/>
                  </a:rPr>
                  <a:t> (</a:t>
                </a:r>
                <a:r>
                  <a:rPr lang="en-US" sz="1600" b="1" i="1" dirty="0" err="1">
                    <a:solidFill>
                      <a:srgbClr val="002060"/>
                    </a:solidFill>
                    <a:latin typeface="Times New Roman"/>
                    <a:ea typeface="Times New Roman"/>
                    <a:cs typeface="Times New Roman"/>
                    <a:sym typeface="Times New Roman"/>
                  </a:rPr>
                  <a:t>IoTCSBCT</a:t>
                </a:r>
                <a:r>
                  <a:rPr lang="en-US" sz="1600" b="1" i="1" dirty="0">
                    <a:solidFill>
                      <a:srgbClr val="002060"/>
                    </a:solidFill>
                    <a:latin typeface="Times New Roman"/>
                    <a:ea typeface="Times New Roman"/>
                    <a:cs typeface="Times New Roman"/>
                    <a:sym typeface="Times New Roman"/>
                  </a:rPr>
                  <a:t>), MHSSCE, Mumbai</a:t>
                </a:r>
                <a:endParaRPr sz="1600" b="1" i="1" u="none" strike="noStrike" cap="none" dirty="0">
                  <a:solidFill>
                    <a:srgbClr val="002060"/>
                  </a:solidFill>
                  <a:latin typeface="Times New Roman"/>
                  <a:ea typeface="Times New Roman"/>
                  <a:cs typeface="Times New Roman"/>
                  <a:sym typeface="Times New Roman"/>
                </a:endParaRPr>
              </a:p>
            </p:txBody>
          </p:sp>
          <p:pic>
            <p:nvPicPr>
              <p:cNvPr id="14" name="Picture 8" descr="EOTY(Engineer Of The Year) – MHSSCOE ACM CHAPTER">
                <a:extLst>
                  <a:ext uri="{FF2B5EF4-FFF2-40B4-BE49-F238E27FC236}">
                    <a16:creationId xmlns:a16="http://schemas.microsoft.com/office/drawing/2014/main" id="{8E831257-A7FB-4BC7-9787-5854AE8C13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226" y="5598336"/>
                <a:ext cx="1011297" cy="1006802"/>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 name="Group 2">
            <a:extLst>
              <a:ext uri="{FF2B5EF4-FFF2-40B4-BE49-F238E27FC236}">
                <a16:creationId xmlns:a16="http://schemas.microsoft.com/office/drawing/2014/main" id="{69BDF5A6-0D8C-6092-934C-9074A34AA9AC}"/>
              </a:ext>
            </a:extLst>
          </p:cNvPr>
          <p:cNvGrpSpPr/>
          <p:nvPr/>
        </p:nvGrpSpPr>
        <p:grpSpPr>
          <a:xfrm>
            <a:off x="-6362900" y="1490510"/>
            <a:ext cx="5746816" cy="4133050"/>
            <a:chOff x="0" y="1644516"/>
            <a:chExt cx="5746816" cy="4133050"/>
          </a:xfrm>
        </p:grpSpPr>
        <p:pic>
          <p:nvPicPr>
            <p:cNvPr id="4" name="Picture 3">
              <a:extLst>
                <a:ext uri="{FF2B5EF4-FFF2-40B4-BE49-F238E27FC236}">
                  <a16:creationId xmlns:a16="http://schemas.microsoft.com/office/drawing/2014/main" id="{C788A0FC-2AD6-AE03-F163-9162A2E66759}"/>
                </a:ext>
              </a:extLst>
            </p:cNvPr>
            <p:cNvPicPr>
              <a:picLocks noChangeAspect="1"/>
            </p:cNvPicPr>
            <p:nvPr/>
          </p:nvPicPr>
          <p:blipFill>
            <a:blip r:embed="rId3">
              <a:alphaModFix amt="20000"/>
            </a:blip>
            <a:stretch>
              <a:fillRect/>
            </a:stretch>
          </p:blipFill>
          <p:spPr>
            <a:xfrm>
              <a:off x="0" y="1644516"/>
              <a:ext cx="5746816" cy="4133050"/>
            </a:xfrm>
            <a:prstGeom prst="rect">
              <a:avLst/>
            </a:prstGeom>
            <a:ln>
              <a:solidFill>
                <a:schemeClr val="tx1"/>
              </a:solidFill>
            </a:ln>
            <a:effectLst>
              <a:softEdge rad="38100"/>
            </a:effectLst>
          </p:spPr>
        </p:pic>
        <p:pic>
          <p:nvPicPr>
            <p:cNvPr id="5" name="Picture 4">
              <a:extLst>
                <a:ext uri="{FF2B5EF4-FFF2-40B4-BE49-F238E27FC236}">
                  <a16:creationId xmlns:a16="http://schemas.microsoft.com/office/drawing/2014/main" id="{EE1CDE5B-427E-E186-AF58-0A472AB640ED}"/>
                </a:ext>
              </a:extLst>
            </p:cNvPr>
            <p:cNvPicPr>
              <a:picLocks noChangeAspect="1"/>
            </p:cNvPicPr>
            <p:nvPr/>
          </p:nvPicPr>
          <p:blipFill>
            <a:blip r:embed="rId4"/>
            <a:stretch>
              <a:fillRect/>
            </a:stretch>
          </p:blipFill>
          <p:spPr>
            <a:xfrm>
              <a:off x="2133546" y="2838648"/>
              <a:ext cx="914400" cy="914400"/>
            </a:xfrm>
            <a:prstGeom prst="rect">
              <a:avLst/>
            </a:prstGeom>
            <a:ln>
              <a:noFill/>
            </a:ln>
            <a:effectLst>
              <a:glow rad="101600">
                <a:srgbClr val="FD17DC">
                  <a:alpha val="60000"/>
                </a:srgbClr>
              </a:glow>
            </a:effectLst>
          </p:spPr>
        </p:pic>
        <p:sp>
          <p:nvSpPr>
            <p:cNvPr id="6" name="TextBox 5">
              <a:extLst>
                <a:ext uri="{FF2B5EF4-FFF2-40B4-BE49-F238E27FC236}">
                  <a16:creationId xmlns:a16="http://schemas.microsoft.com/office/drawing/2014/main" id="{EE437020-A81B-72FE-04DA-E98DA07F27AA}"/>
                </a:ext>
              </a:extLst>
            </p:cNvPr>
            <p:cNvSpPr txBox="1"/>
            <p:nvPr/>
          </p:nvSpPr>
          <p:spPr>
            <a:xfrm>
              <a:off x="768416" y="2038953"/>
              <a:ext cx="3734602" cy="523220"/>
            </a:xfrm>
            <a:prstGeom prst="rect">
              <a:avLst/>
            </a:prstGeom>
            <a:noFill/>
          </p:spPr>
          <p:txBody>
            <a:bodyPr wrap="square" rtlCol="0">
              <a:spAutoFit/>
            </a:bodyPr>
            <a:lstStyle/>
            <a:p>
              <a:pPr algn="ctr"/>
              <a:r>
                <a:rPr lang="en-US" sz="2800" b="1" dirty="0">
                  <a:ln w="0">
                    <a:solidFill>
                      <a:schemeClr val="accent1"/>
                    </a:solidFill>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FRONT-END</a:t>
              </a:r>
            </a:p>
          </p:txBody>
        </p:sp>
        <p:sp>
          <p:nvSpPr>
            <p:cNvPr id="7" name="TextBox 6">
              <a:extLst>
                <a:ext uri="{FF2B5EF4-FFF2-40B4-BE49-F238E27FC236}">
                  <a16:creationId xmlns:a16="http://schemas.microsoft.com/office/drawing/2014/main" id="{3CD8772F-8F39-7594-7D51-6AB1F4A5631F}"/>
                </a:ext>
              </a:extLst>
            </p:cNvPr>
            <p:cNvSpPr txBox="1"/>
            <p:nvPr/>
          </p:nvSpPr>
          <p:spPr>
            <a:xfrm>
              <a:off x="279132" y="4013732"/>
              <a:ext cx="5149515" cy="1384995"/>
            </a:xfrm>
            <a:prstGeom prst="rect">
              <a:avLst/>
            </a:prstGeom>
            <a:noFill/>
          </p:spPr>
          <p:txBody>
            <a:bodyPr wrap="square" rtlCol="0">
              <a:spAutoFit/>
            </a:bodyPr>
            <a:lstStyle/>
            <a:p>
              <a:pPr algn="just"/>
              <a:r>
                <a:rPr lang="en-US" sz="1400">
                  <a:latin typeface="Aerial"/>
                </a:rPr>
                <a:t>The frontend of the system was developed using HTML, CSS, and JavaScript to create an interactive and user-friendly voting interface. MetaMask integration was implemented to enable secure wallet-based authentication and allow users to connect to the Ethereum blockchain seamlessly. The interface allows voters to register, cast votes, and view election results in real time.</a:t>
              </a:r>
              <a:endParaRPr lang="en-US" sz="1400" dirty="0">
                <a:latin typeface="Aerial"/>
              </a:endParaRPr>
            </a:p>
          </p:txBody>
        </p:sp>
      </p:grpSp>
      <p:grpSp>
        <p:nvGrpSpPr>
          <p:cNvPr id="8" name="Group 7">
            <a:extLst>
              <a:ext uri="{FF2B5EF4-FFF2-40B4-BE49-F238E27FC236}">
                <a16:creationId xmlns:a16="http://schemas.microsoft.com/office/drawing/2014/main" id="{511D0000-5B93-276C-4BCB-9533AEC5FB71}"/>
              </a:ext>
            </a:extLst>
          </p:cNvPr>
          <p:cNvGrpSpPr/>
          <p:nvPr/>
        </p:nvGrpSpPr>
        <p:grpSpPr>
          <a:xfrm>
            <a:off x="12687255" y="1490510"/>
            <a:ext cx="5746816" cy="4133050"/>
            <a:chOff x="6409780" y="1644516"/>
            <a:chExt cx="5746816" cy="4133050"/>
          </a:xfrm>
        </p:grpSpPr>
        <p:pic>
          <p:nvPicPr>
            <p:cNvPr id="16" name="Picture 15">
              <a:extLst>
                <a:ext uri="{FF2B5EF4-FFF2-40B4-BE49-F238E27FC236}">
                  <a16:creationId xmlns:a16="http://schemas.microsoft.com/office/drawing/2014/main" id="{8E553825-9056-F3AE-2C84-0BAB045D3ABB}"/>
                </a:ext>
              </a:extLst>
            </p:cNvPr>
            <p:cNvPicPr>
              <a:picLocks noChangeAspect="1"/>
            </p:cNvPicPr>
            <p:nvPr/>
          </p:nvPicPr>
          <p:blipFill>
            <a:blip r:embed="rId3">
              <a:alphaModFix amt="20000"/>
            </a:blip>
            <a:stretch>
              <a:fillRect/>
            </a:stretch>
          </p:blipFill>
          <p:spPr>
            <a:xfrm>
              <a:off x="6409780" y="1644516"/>
              <a:ext cx="5746816" cy="4133050"/>
            </a:xfrm>
            <a:prstGeom prst="rect">
              <a:avLst/>
            </a:prstGeom>
            <a:ln>
              <a:solidFill>
                <a:schemeClr val="tx1"/>
              </a:solidFill>
            </a:ln>
            <a:effectLst>
              <a:softEdge rad="38100"/>
            </a:effectLst>
          </p:spPr>
        </p:pic>
        <p:sp>
          <p:nvSpPr>
            <p:cNvPr id="17" name="TextBox 16">
              <a:extLst>
                <a:ext uri="{FF2B5EF4-FFF2-40B4-BE49-F238E27FC236}">
                  <a16:creationId xmlns:a16="http://schemas.microsoft.com/office/drawing/2014/main" id="{7EA1EDAB-DCA3-8407-DB08-882BA30C5D87}"/>
                </a:ext>
              </a:extLst>
            </p:cNvPr>
            <p:cNvSpPr txBox="1"/>
            <p:nvPr/>
          </p:nvSpPr>
          <p:spPr>
            <a:xfrm>
              <a:off x="7415887" y="2038953"/>
              <a:ext cx="3734602" cy="523220"/>
            </a:xfrm>
            <a:prstGeom prst="rect">
              <a:avLst/>
            </a:prstGeom>
            <a:noFill/>
          </p:spPr>
          <p:txBody>
            <a:bodyPr wrap="square" rtlCol="0">
              <a:spAutoFit/>
            </a:bodyPr>
            <a:lstStyle/>
            <a:p>
              <a:pPr algn="ctr"/>
              <a:r>
                <a:rPr lang="en-US" sz="2800" b="1" dirty="0">
                  <a:ln w="0">
                    <a:solidFill>
                      <a:schemeClr val="accent1"/>
                    </a:solidFill>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BACK-END</a:t>
              </a:r>
            </a:p>
          </p:txBody>
        </p:sp>
        <p:pic>
          <p:nvPicPr>
            <p:cNvPr id="18" name="Picture 17">
              <a:extLst>
                <a:ext uri="{FF2B5EF4-FFF2-40B4-BE49-F238E27FC236}">
                  <a16:creationId xmlns:a16="http://schemas.microsoft.com/office/drawing/2014/main" id="{B47B61A0-EF1A-7D43-55D9-9FE7677CD8E5}"/>
                </a:ext>
              </a:extLst>
            </p:cNvPr>
            <p:cNvPicPr>
              <a:picLocks noChangeAspect="1"/>
            </p:cNvPicPr>
            <p:nvPr/>
          </p:nvPicPr>
          <p:blipFill>
            <a:blip r:embed="rId5"/>
            <a:stretch>
              <a:fillRect/>
            </a:stretch>
          </p:blipFill>
          <p:spPr>
            <a:xfrm>
              <a:off x="8825988" y="2780610"/>
              <a:ext cx="914400" cy="914400"/>
            </a:xfrm>
            <a:prstGeom prst="rect">
              <a:avLst/>
            </a:prstGeom>
            <a:effectLst>
              <a:glow rad="101600">
                <a:srgbClr val="FF0000">
                  <a:alpha val="60000"/>
                </a:srgbClr>
              </a:glow>
            </a:effectLst>
          </p:spPr>
        </p:pic>
        <p:sp>
          <p:nvSpPr>
            <p:cNvPr id="19" name="TextBox 18">
              <a:extLst>
                <a:ext uri="{FF2B5EF4-FFF2-40B4-BE49-F238E27FC236}">
                  <a16:creationId xmlns:a16="http://schemas.microsoft.com/office/drawing/2014/main" id="{E050962C-9B6C-F547-EBF1-9D18BC71AF84}"/>
                </a:ext>
              </a:extLst>
            </p:cNvPr>
            <p:cNvSpPr txBox="1"/>
            <p:nvPr/>
          </p:nvSpPr>
          <p:spPr>
            <a:xfrm>
              <a:off x="6736102" y="4002502"/>
              <a:ext cx="5149515" cy="1600438"/>
            </a:xfrm>
            <a:prstGeom prst="rect">
              <a:avLst/>
            </a:prstGeom>
            <a:noFill/>
          </p:spPr>
          <p:txBody>
            <a:bodyPr wrap="square" rtlCol="0">
              <a:spAutoFit/>
            </a:bodyPr>
            <a:lstStyle/>
            <a:p>
              <a:pPr algn="just"/>
              <a:r>
                <a:rPr lang="en-US" sz="1400" dirty="0"/>
                <a:t>On the backend, Node.js was used to manage application logic and handle communication between the frontend and the blockchain. Smart contracts were written in Solidity and deployed on the Ethereum platform to securely manage voter verification, vote casting, and automatic vote counting. Web3.js was integrated to connect the application with the blockchain, while Ganache was used for local blockchain testing and development.</a:t>
              </a:r>
              <a:endParaRPr lang="en-US" sz="1400" dirty="0">
                <a:latin typeface="Aerial"/>
              </a:endParaRPr>
            </a:p>
          </p:txBody>
        </p:sp>
      </p:grpSp>
      <p:sp>
        <p:nvSpPr>
          <p:cNvPr id="22" name="Title 1">
            <a:extLst>
              <a:ext uri="{FF2B5EF4-FFF2-40B4-BE49-F238E27FC236}">
                <a16:creationId xmlns:a16="http://schemas.microsoft.com/office/drawing/2014/main" id="{EE1C0E8B-3B9A-D678-9414-35B4B6ED062E}"/>
              </a:ext>
            </a:extLst>
          </p:cNvPr>
          <p:cNvSpPr txBox="1">
            <a:spLocks/>
          </p:cNvSpPr>
          <p:nvPr/>
        </p:nvSpPr>
        <p:spPr>
          <a:xfrm>
            <a:off x="838200" y="14495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ln w="12700">
                  <a:solidFill>
                    <a:srgbClr val="002060"/>
                  </a:solidFill>
                  <a:prstDash val="solid"/>
                </a:ln>
                <a:solidFill>
                  <a:srgbClr val="002060"/>
                </a:solidFill>
                <a:effectLst>
                  <a:glow rad="63500">
                    <a:schemeClr val="accent5">
                      <a:satMod val="175000"/>
                      <a:alpha val="40000"/>
                    </a:schemeClr>
                  </a:glow>
                </a:effectLst>
                <a:sym typeface="Times New Roman"/>
              </a:rPr>
              <a:t>Literature Review </a:t>
            </a:r>
          </a:p>
        </p:txBody>
      </p:sp>
      <p:sp>
        <p:nvSpPr>
          <p:cNvPr id="23" name="Title 1">
            <a:extLst>
              <a:ext uri="{FF2B5EF4-FFF2-40B4-BE49-F238E27FC236}">
                <a16:creationId xmlns:a16="http://schemas.microsoft.com/office/drawing/2014/main" id="{05535873-A3D4-A31A-C760-DCC3486DD1CB}"/>
              </a:ext>
            </a:extLst>
          </p:cNvPr>
          <p:cNvSpPr>
            <a:spLocks noGrp="1"/>
          </p:cNvSpPr>
          <p:nvPr>
            <p:ph type="title"/>
          </p:nvPr>
        </p:nvSpPr>
        <p:spPr>
          <a:xfrm>
            <a:off x="838200" y="-2132030"/>
            <a:ext cx="10515600" cy="1325563"/>
          </a:xfrm>
        </p:spPr>
        <p:txBody>
          <a:bodyPr>
            <a:normAutofit/>
          </a:bodyPr>
          <a:lstStyle/>
          <a:p>
            <a:pPr marL="0" marR="0" lvl="0" indent="0" algn="ctr">
              <a:spcAft>
                <a:spcPts val="0"/>
              </a:spcAft>
            </a:pPr>
            <a:r>
              <a:rPr lang="en-IN" b="1" dirty="0">
                <a:ln w="12700">
                  <a:solidFill>
                    <a:srgbClr val="002060"/>
                  </a:solidFill>
                  <a:prstDash val="solid"/>
                </a:ln>
                <a:solidFill>
                  <a:srgbClr val="002060"/>
                </a:solidFill>
                <a:effectLst>
                  <a:glow rad="63500">
                    <a:schemeClr val="accent5">
                      <a:satMod val="175000"/>
                      <a:alpha val="40000"/>
                    </a:schemeClr>
                  </a:glow>
                </a:effectLst>
                <a:sym typeface="Times New Roman"/>
              </a:rPr>
              <a:t>Proposed Framework</a:t>
            </a:r>
          </a:p>
        </p:txBody>
      </p:sp>
      <p:pic>
        <p:nvPicPr>
          <p:cNvPr id="24" name="Picture Placeholder 10">
            <a:extLst>
              <a:ext uri="{FF2B5EF4-FFF2-40B4-BE49-F238E27FC236}">
                <a16:creationId xmlns:a16="http://schemas.microsoft.com/office/drawing/2014/main" id="{EAC54807-3593-AA3F-FD24-69C006E74229}"/>
              </a:ext>
            </a:extLst>
          </p:cNvPr>
          <p:cNvPicPr>
            <a:picLocks noChangeAspect="1"/>
          </p:cNvPicPr>
          <p:nvPr/>
        </p:nvPicPr>
        <p:blipFill>
          <a:blip r:embed="rId6"/>
          <a:srcRect l="710" t="-243" r="4624"/>
          <a:stretch>
            <a:fillRect/>
          </a:stretch>
        </p:blipFill>
        <p:spPr>
          <a:xfrm>
            <a:off x="-8608194" y="1597794"/>
            <a:ext cx="5515276" cy="3976683"/>
          </a:xfrm>
          <a:prstGeom prst="rect">
            <a:avLst/>
          </a:prstGeom>
          <a:ln w="190500" cap="sq">
            <a:solidFill>
              <a:srgbClr val="BFF1F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grpSp>
        <p:nvGrpSpPr>
          <p:cNvPr id="25" name="Group 24">
            <a:extLst>
              <a:ext uri="{FF2B5EF4-FFF2-40B4-BE49-F238E27FC236}">
                <a16:creationId xmlns:a16="http://schemas.microsoft.com/office/drawing/2014/main" id="{85641DAC-543F-2EDF-2FDA-C5032877F320}"/>
              </a:ext>
            </a:extLst>
          </p:cNvPr>
          <p:cNvGrpSpPr/>
          <p:nvPr/>
        </p:nvGrpSpPr>
        <p:grpSpPr>
          <a:xfrm>
            <a:off x="15995402" y="1578744"/>
            <a:ext cx="5406190" cy="4053683"/>
            <a:chOff x="6554804" y="1520792"/>
            <a:chExt cx="5406190" cy="4053683"/>
          </a:xfrm>
        </p:grpSpPr>
        <p:sp>
          <p:nvSpPr>
            <p:cNvPr id="26" name="Rectangle: Diagonal Corners Rounded 25">
              <a:extLst>
                <a:ext uri="{FF2B5EF4-FFF2-40B4-BE49-F238E27FC236}">
                  <a16:creationId xmlns:a16="http://schemas.microsoft.com/office/drawing/2014/main" id="{3D70279B-8163-0D7D-296A-13547E05A22A}"/>
                </a:ext>
              </a:extLst>
            </p:cNvPr>
            <p:cNvSpPr/>
            <p:nvPr/>
          </p:nvSpPr>
          <p:spPr>
            <a:xfrm>
              <a:off x="6554804" y="1520792"/>
              <a:ext cx="5406190" cy="4053683"/>
            </a:xfrm>
            <a:prstGeom prst="round2DiagRect">
              <a:avLst/>
            </a:prstGeom>
            <a:solidFill>
              <a:schemeClr val="accent4">
                <a:alpha val="25000"/>
              </a:schemeClr>
            </a:solidFill>
            <a:ln>
              <a:noFill/>
            </a:ln>
            <a:effectLst>
              <a:softEdge rad="31750"/>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7" name="Text Placeholder 56">
              <a:extLst>
                <a:ext uri="{FF2B5EF4-FFF2-40B4-BE49-F238E27FC236}">
                  <a16:creationId xmlns:a16="http://schemas.microsoft.com/office/drawing/2014/main" id="{83676976-1D00-15B8-D53A-1442F432FF72}"/>
                </a:ext>
              </a:extLst>
            </p:cNvPr>
            <p:cNvSpPr txBox="1">
              <a:spLocks/>
            </p:cNvSpPr>
            <p:nvPr/>
          </p:nvSpPr>
          <p:spPr>
            <a:xfrm>
              <a:off x="7079405" y="1937013"/>
              <a:ext cx="4614604" cy="34001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v"/>
              </a:pPr>
              <a:r>
                <a:rPr lang="en-US" sz="1600" dirty="0">
                  <a:latin typeface="Aptos Display" panose="020B0004020202020204" pitchFamily="34" charset="0"/>
                </a:rPr>
                <a:t>User Login : User enters credentials (voter/admin).</a:t>
              </a:r>
            </a:p>
            <a:p>
              <a:pPr marL="285750" indent="-285750">
                <a:buFont typeface="Wingdings" panose="05000000000000000000" pitchFamily="2" charset="2"/>
                <a:buChar char="v"/>
              </a:pPr>
              <a:r>
                <a:rPr lang="en-US" sz="1600" dirty="0">
                  <a:latin typeface="Aptos Display" panose="020B0004020202020204" pitchFamily="34" charset="0"/>
                </a:rPr>
                <a:t>Credential Verification : Credentials are checked against the MySQL database.</a:t>
              </a:r>
            </a:p>
            <a:p>
              <a:pPr marL="285750" indent="-285750">
                <a:buFont typeface="Wingdings" panose="05000000000000000000" pitchFamily="2" charset="2"/>
                <a:buChar char="v"/>
              </a:pPr>
              <a:r>
                <a:rPr lang="en-US" sz="1600" dirty="0">
                  <a:latin typeface="Aptos Display" panose="020B0004020202020204" pitchFamily="34" charset="0"/>
                </a:rPr>
                <a:t>Role-Based Routing</a:t>
              </a:r>
            </a:p>
            <a:p>
              <a:pPr marL="0" indent="0">
                <a:buNone/>
              </a:pPr>
              <a:r>
                <a:rPr lang="en-US" sz="1600" dirty="0">
                  <a:latin typeface="Aptos Display" panose="020B0004020202020204" pitchFamily="34" charset="0"/>
                </a:rPr>
                <a:t>	voter → Redirected to Voting Page</a:t>
              </a:r>
            </a:p>
            <a:p>
              <a:pPr marL="0" indent="0">
                <a:buNone/>
              </a:pPr>
              <a:r>
                <a:rPr lang="en-US" sz="1600" dirty="0">
                  <a:latin typeface="Aptos Display" panose="020B0004020202020204" pitchFamily="34" charset="0"/>
                </a:rPr>
                <a:t>	admin → Redirected to Admin Panel</a:t>
              </a:r>
            </a:p>
            <a:p>
              <a:pPr marL="285750" indent="-285750">
                <a:buFont typeface="Wingdings" panose="05000000000000000000" pitchFamily="2" charset="2"/>
                <a:buChar char="v"/>
              </a:pPr>
              <a:r>
                <a:rPr lang="en-US" sz="1600" dirty="0">
                  <a:latin typeface="Aptos Display" panose="020B0004020202020204" pitchFamily="34" charset="0"/>
                </a:rPr>
                <a:t>Blockchain Interaction : Actions (like casting a vote) trigger smart contract transactions on the Ethereum blockchain.</a:t>
              </a:r>
            </a:p>
            <a:p>
              <a:pPr marL="285750" indent="-285750">
                <a:buFont typeface="Wingdings" panose="05000000000000000000" pitchFamily="2" charset="2"/>
                <a:buChar char="v"/>
              </a:pPr>
              <a:r>
                <a:rPr lang="en-US" sz="1600" dirty="0">
                  <a:latin typeface="Aptos Display" panose="020B0004020202020204" pitchFamily="34" charset="0"/>
                </a:rPr>
                <a:t>Real-Time Updates : The Voting Page updates as blockchain transactions are recorded.</a:t>
              </a:r>
            </a:p>
          </p:txBody>
        </p:sp>
      </p:grpSp>
    </p:spTree>
    <p:extLst>
      <p:ext uri="{BB962C8B-B14F-4D97-AF65-F5344CB8AC3E}">
        <p14:creationId xmlns:p14="http://schemas.microsoft.com/office/powerpoint/2010/main" val="1454985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24CB9-E754-4DC2-A5AF-AC1DA408DEE5}"/>
              </a:ext>
            </a:extLst>
          </p:cNvPr>
          <p:cNvSpPr>
            <a:spLocks noGrp="1"/>
          </p:cNvSpPr>
          <p:nvPr>
            <p:ph type="title"/>
          </p:nvPr>
        </p:nvSpPr>
        <p:spPr>
          <a:xfrm>
            <a:off x="838200" y="211120"/>
            <a:ext cx="10515600" cy="1325563"/>
          </a:xfrm>
        </p:spPr>
        <p:txBody>
          <a:bodyPr>
            <a:normAutofit/>
          </a:bodyPr>
          <a:lstStyle/>
          <a:p>
            <a:pPr marL="0" marR="0" lvl="0" indent="0" algn="ctr">
              <a:spcAft>
                <a:spcPts val="0"/>
              </a:spcAft>
            </a:pPr>
            <a:r>
              <a:rPr lang="en-IN" b="1" dirty="0">
                <a:ln w="12700">
                  <a:solidFill>
                    <a:srgbClr val="002060"/>
                  </a:solidFill>
                  <a:prstDash val="solid"/>
                </a:ln>
                <a:solidFill>
                  <a:srgbClr val="002060"/>
                </a:solidFill>
                <a:effectLst>
                  <a:glow rad="63500">
                    <a:schemeClr val="accent5">
                      <a:satMod val="175000"/>
                      <a:alpha val="40000"/>
                    </a:schemeClr>
                  </a:glow>
                </a:effectLst>
                <a:sym typeface="Times New Roman"/>
              </a:rPr>
              <a:t>Proposed Framework</a:t>
            </a:r>
          </a:p>
        </p:txBody>
      </p:sp>
      <p:grpSp>
        <p:nvGrpSpPr>
          <p:cNvPr id="9" name="Group 8">
            <a:extLst>
              <a:ext uri="{FF2B5EF4-FFF2-40B4-BE49-F238E27FC236}">
                <a16:creationId xmlns:a16="http://schemas.microsoft.com/office/drawing/2014/main" id="{6BA910FF-97C8-448B-89C2-C562B155BE7A}"/>
              </a:ext>
            </a:extLst>
          </p:cNvPr>
          <p:cNvGrpSpPr/>
          <p:nvPr/>
        </p:nvGrpSpPr>
        <p:grpSpPr>
          <a:xfrm>
            <a:off x="-10160" y="5842000"/>
            <a:ext cx="12207699" cy="882978"/>
            <a:chOff x="-10160" y="5638921"/>
            <a:chExt cx="12207699" cy="1086057"/>
          </a:xfrm>
        </p:grpSpPr>
        <p:cxnSp>
          <p:nvCxnSpPr>
            <p:cNvPr id="10" name="Straight Connector 9">
              <a:extLst>
                <a:ext uri="{FF2B5EF4-FFF2-40B4-BE49-F238E27FC236}">
                  <a16:creationId xmlns:a16="http://schemas.microsoft.com/office/drawing/2014/main" id="{8079F2F2-6FEA-4BC1-BD72-14D3CAF84C17}"/>
                </a:ext>
              </a:extLst>
            </p:cNvPr>
            <p:cNvCxnSpPr>
              <a:cxnSpLocks/>
            </p:cNvCxnSpPr>
            <p:nvPr/>
          </p:nvCxnSpPr>
          <p:spPr>
            <a:xfrm>
              <a:off x="-10160" y="5638921"/>
              <a:ext cx="12207699"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C4624738-38D6-456F-B66E-0117EE6DAD57}"/>
                </a:ext>
              </a:extLst>
            </p:cNvPr>
            <p:cNvGrpSpPr/>
            <p:nvPr/>
          </p:nvGrpSpPr>
          <p:grpSpPr>
            <a:xfrm>
              <a:off x="1789931" y="5718176"/>
              <a:ext cx="8612137" cy="1006802"/>
              <a:chOff x="1217226" y="5598336"/>
              <a:chExt cx="8612137" cy="1006802"/>
            </a:xfrm>
          </p:grpSpPr>
          <p:sp>
            <p:nvSpPr>
              <p:cNvPr id="12" name="Google Shape;46;p2">
                <a:extLst>
                  <a:ext uri="{FF2B5EF4-FFF2-40B4-BE49-F238E27FC236}">
                    <a16:creationId xmlns:a16="http://schemas.microsoft.com/office/drawing/2014/main" id="{6E14FFF4-270C-4C59-A6C1-05DDD57CE635}"/>
                  </a:ext>
                </a:extLst>
              </p:cNvPr>
              <p:cNvSpPr txBox="1"/>
              <p:nvPr/>
            </p:nvSpPr>
            <p:spPr>
              <a:xfrm>
                <a:off x="1844787" y="5927387"/>
                <a:ext cx="7984576" cy="3487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600" b="1" i="1" u="none" strike="noStrike" cap="none" dirty="0">
                    <a:solidFill>
                      <a:srgbClr val="002060"/>
                    </a:solidFill>
                    <a:latin typeface="Times New Roman"/>
                    <a:ea typeface="Times New Roman"/>
                    <a:cs typeface="Times New Roman"/>
                    <a:sym typeface="Times New Roman"/>
                  </a:rPr>
                  <a:t>Department of Computer Science &amp; Engineering</a:t>
                </a:r>
                <a:r>
                  <a:rPr lang="en-US" sz="1600" b="1" i="1" dirty="0">
                    <a:solidFill>
                      <a:srgbClr val="002060"/>
                    </a:solidFill>
                    <a:latin typeface="Times New Roman"/>
                    <a:ea typeface="Times New Roman"/>
                    <a:cs typeface="Times New Roman"/>
                    <a:sym typeface="Times New Roman"/>
                  </a:rPr>
                  <a:t> (</a:t>
                </a:r>
                <a:r>
                  <a:rPr lang="en-US" sz="1600" b="1" i="1" dirty="0" err="1">
                    <a:solidFill>
                      <a:srgbClr val="002060"/>
                    </a:solidFill>
                    <a:latin typeface="Times New Roman"/>
                    <a:ea typeface="Times New Roman"/>
                    <a:cs typeface="Times New Roman"/>
                    <a:sym typeface="Times New Roman"/>
                  </a:rPr>
                  <a:t>IoTCSBCT</a:t>
                </a:r>
                <a:r>
                  <a:rPr lang="en-US" sz="1600" b="1" i="1" dirty="0">
                    <a:solidFill>
                      <a:srgbClr val="002060"/>
                    </a:solidFill>
                    <a:latin typeface="Times New Roman"/>
                    <a:ea typeface="Times New Roman"/>
                    <a:cs typeface="Times New Roman"/>
                    <a:sym typeface="Times New Roman"/>
                  </a:rPr>
                  <a:t>), MHSSCE, Mumbai</a:t>
                </a:r>
                <a:endParaRPr sz="1600" b="1" i="1" u="none" strike="noStrike" cap="none" dirty="0">
                  <a:solidFill>
                    <a:srgbClr val="002060"/>
                  </a:solidFill>
                  <a:latin typeface="Times New Roman"/>
                  <a:ea typeface="Times New Roman"/>
                  <a:cs typeface="Times New Roman"/>
                  <a:sym typeface="Times New Roman"/>
                </a:endParaRPr>
              </a:p>
            </p:txBody>
          </p:sp>
          <p:pic>
            <p:nvPicPr>
              <p:cNvPr id="13" name="Picture 8" descr="EOTY(Engineer Of The Year) – MHSSCOE ACM CHAPTER">
                <a:extLst>
                  <a:ext uri="{FF2B5EF4-FFF2-40B4-BE49-F238E27FC236}">
                    <a16:creationId xmlns:a16="http://schemas.microsoft.com/office/drawing/2014/main" id="{74EC0794-AA09-470A-9990-DA302A6F47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226" y="5598336"/>
                <a:ext cx="1011297" cy="1006802"/>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4" name="Picture Placeholder 10">
            <a:extLst>
              <a:ext uri="{FF2B5EF4-FFF2-40B4-BE49-F238E27FC236}">
                <a16:creationId xmlns:a16="http://schemas.microsoft.com/office/drawing/2014/main" id="{F1756332-ABB9-6486-53DD-839C855E222A}"/>
              </a:ext>
            </a:extLst>
          </p:cNvPr>
          <p:cNvPicPr>
            <a:picLocks noChangeAspect="1"/>
          </p:cNvPicPr>
          <p:nvPr/>
        </p:nvPicPr>
        <p:blipFill>
          <a:blip r:embed="rId3"/>
          <a:srcRect l="710" t="-243" r="4624"/>
          <a:stretch>
            <a:fillRect/>
          </a:stretch>
        </p:blipFill>
        <p:spPr>
          <a:xfrm>
            <a:off x="231006" y="1597794"/>
            <a:ext cx="5515276" cy="3976683"/>
          </a:xfrm>
          <a:prstGeom prst="rect">
            <a:avLst/>
          </a:prstGeom>
          <a:ln w="190500" cap="sq">
            <a:solidFill>
              <a:srgbClr val="BFF1F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grpSp>
        <p:nvGrpSpPr>
          <p:cNvPr id="8" name="Group 7">
            <a:extLst>
              <a:ext uri="{FF2B5EF4-FFF2-40B4-BE49-F238E27FC236}">
                <a16:creationId xmlns:a16="http://schemas.microsoft.com/office/drawing/2014/main" id="{19F2D082-DEAF-9E84-7903-007F2BF2F137}"/>
              </a:ext>
            </a:extLst>
          </p:cNvPr>
          <p:cNvGrpSpPr/>
          <p:nvPr/>
        </p:nvGrpSpPr>
        <p:grpSpPr>
          <a:xfrm>
            <a:off x="6554804" y="1520792"/>
            <a:ext cx="5406190" cy="4053683"/>
            <a:chOff x="6554804" y="1520792"/>
            <a:chExt cx="5406190" cy="4053683"/>
          </a:xfrm>
        </p:grpSpPr>
        <p:sp>
          <p:nvSpPr>
            <p:cNvPr id="6" name="Rectangle: Diagonal Corners Rounded 5">
              <a:extLst>
                <a:ext uri="{FF2B5EF4-FFF2-40B4-BE49-F238E27FC236}">
                  <a16:creationId xmlns:a16="http://schemas.microsoft.com/office/drawing/2014/main" id="{6914F596-EE7C-7221-C942-54AE1E6C3589}"/>
                </a:ext>
              </a:extLst>
            </p:cNvPr>
            <p:cNvSpPr/>
            <p:nvPr/>
          </p:nvSpPr>
          <p:spPr>
            <a:xfrm>
              <a:off x="6554804" y="1520792"/>
              <a:ext cx="5406190" cy="4053683"/>
            </a:xfrm>
            <a:prstGeom prst="round2DiagRect">
              <a:avLst/>
            </a:prstGeom>
            <a:solidFill>
              <a:schemeClr val="accent4">
                <a:alpha val="25000"/>
              </a:schemeClr>
            </a:solidFill>
            <a:ln>
              <a:noFill/>
            </a:ln>
            <a:effectLst>
              <a:softEdge rad="31750"/>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Text Placeholder 56">
              <a:extLst>
                <a:ext uri="{FF2B5EF4-FFF2-40B4-BE49-F238E27FC236}">
                  <a16:creationId xmlns:a16="http://schemas.microsoft.com/office/drawing/2014/main" id="{492CCA7C-E4C1-A971-C755-E388B8A7F97C}"/>
                </a:ext>
              </a:extLst>
            </p:cNvPr>
            <p:cNvSpPr txBox="1">
              <a:spLocks/>
            </p:cNvSpPr>
            <p:nvPr/>
          </p:nvSpPr>
          <p:spPr>
            <a:xfrm>
              <a:off x="7079405" y="1937013"/>
              <a:ext cx="4614604" cy="34001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v"/>
              </a:pPr>
              <a:r>
                <a:rPr lang="en-US" sz="1600" dirty="0">
                  <a:latin typeface="Aptos Display" panose="020B0004020202020204" pitchFamily="34" charset="0"/>
                </a:rPr>
                <a:t>User Login : User enters credentials (voter/admin).</a:t>
              </a:r>
            </a:p>
            <a:p>
              <a:pPr marL="285750" indent="-285750">
                <a:buFont typeface="Wingdings" panose="05000000000000000000" pitchFamily="2" charset="2"/>
                <a:buChar char="v"/>
              </a:pPr>
              <a:r>
                <a:rPr lang="en-US" sz="1600" dirty="0">
                  <a:latin typeface="Aptos Display" panose="020B0004020202020204" pitchFamily="34" charset="0"/>
                </a:rPr>
                <a:t>Credential Verification : Credentials are checked against the MySQL database.</a:t>
              </a:r>
            </a:p>
            <a:p>
              <a:pPr marL="285750" indent="-285750">
                <a:buFont typeface="Wingdings" panose="05000000000000000000" pitchFamily="2" charset="2"/>
                <a:buChar char="v"/>
              </a:pPr>
              <a:r>
                <a:rPr lang="en-US" sz="1600" dirty="0">
                  <a:latin typeface="Aptos Display" panose="020B0004020202020204" pitchFamily="34" charset="0"/>
                </a:rPr>
                <a:t>Role-Based Routing</a:t>
              </a:r>
            </a:p>
            <a:p>
              <a:pPr marL="0" indent="0">
                <a:buNone/>
              </a:pPr>
              <a:r>
                <a:rPr lang="en-US" sz="1600" dirty="0">
                  <a:latin typeface="Aptos Display" panose="020B0004020202020204" pitchFamily="34" charset="0"/>
                </a:rPr>
                <a:t>	voter → Redirected to Voting Page</a:t>
              </a:r>
            </a:p>
            <a:p>
              <a:pPr marL="0" indent="0">
                <a:buNone/>
              </a:pPr>
              <a:r>
                <a:rPr lang="en-US" sz="1600" dirty="0">
                  <a:latin typeface="Aptos Display" panose="020B0004020202020204" pitchFamily="34" charset="0"/>
                </a:rPr>
                <a:t>	admin → Redirected to Admin Panel</a:t>
              </a:r>
            </a:p>
            <a:p>
              <a:pPr marL="285750" indent="-285750">
                <a:buFont typeface="Wingdings" panose="05000000000000000000" pitchFamily="2" charset="2"/>
                <a:buChar char="v"/>
              </a:pPr>
              <a:r>
                <a:rPr lang="en-US" sz="1600" dirty="0">
                  <a:latin typeface="Aptos Display" panose="020B0004020202020204" pitchFamily="34" charset="0"/>
                </a:rPr>
                <a:t>Blockchain Interaction : Actions (like casting a vote) trigger smart contract transactions on the Ethereum blockchain.</a:t>
              </a:r>
            </a:p>
            <a:p>
              <a:pPr marL="285750" indent="-285750">
                <a:buFont typeface="Wingdings" panose="05000000000000000000" pitchFamily="2" charset="2"/>
                <a:buChar char="v"/>
              </a:pPr>
              <a:r>
                <a:rPr lang="en-US" sz="1600" dirty="0">
                  <a:latin typeface="Aptos Display" panose="020B0004020202020204" pitchFamily="34" charset="0"/>
                </a:rPr>
                <a:t>Real-Time Updates : The Voting Page updates as blockchain transactions are recorded.</a:t>
              </a:r>
            </a:p>
          </p:txBody>
        </p:sp>
      </p:grpSp>
    </p:spTree>
    <p:extLst>
      <p:ext uri="{BB962C8B-B14F-4D97-AF65-F5344CB8AC3E}">
        <p14:creationId xmlns:p14="http://schemas.microsoft.com/office/powerpoint/2010/main" val="36622217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8"/>
                                        </p:tgtEl>
                                        <p:attrNameLst>
                                          <p:attrName>r</p:attrName>
                                        </p:attrNameLst>
                                      </p:cBhvr>
                                    </p:animRot>
                                    <p:animRot by="-240000">
                                      <p:cBhvr>
                                        <p:cTn id="7" dur="200" fill="hold">
                                          <p:stCondLst>
                                            <p:cond delay="200"/>
                                          </p:stCondLst>
                                        </p:cTn>
                                        <p:tgtEl>
                                          <p:spTgt spid="8"/>
                                        </p:tgtEl>
                                        <p:attrNameLst>
                                          <p:attrName>r</p:attrName>
                                        </p:attrNameLst>
                                      </p:cBhvr>
                                    </p:animRot>
                                    <p:animRot by="240000">
                                      <p:cBhvr>
                                        <p:cTn id="8" dur="200" fill="hold">
                                          <p:stCondLst>
                                            <p:cond delay="400"/>
                                          </p:stCondLst>
                                        </p:cTn>
                                        <p:tgtEl>
                                          <p:spTgt spid="8"/>
                                        </p:tgtEl>
                                        <p:attrNameLst>
                                          <p:attrName>r</p:attrName>
                                        </p:attrNameLst>
                                      </p:cBhvr>
                                    </p:animRot>
                                    <p:animRot by="-240000">
                                      <p:cBhvr>
                                        <p:cTn id="9" dur="200" fill="hold">
                                          <p:stCondLst>
                                            <p:cond delay="600"/>
                                          </p:stCondLst>
                                        </p:cTn>
                                        <p:tgtEl>
                                          <p:spTgt spid="8"/>
                                        </p:tgtEl>
                                        <p:attrNameLst>
                                          <p:attrName>r</p:attrName>
                                        </p:attrNameLst>
                                      </p:cBhvr>
                                    </p:animRot>
                                    <p:animRot by="120000">
                                      <p:cBhvr>
                                        <p:cTn id="10" dur="200" fill="hold">
                                          <p:stCondLst>
                                            <p:cond delay="800"/>
                                          </p:stCondLst>
                                        </p:cTn>
                                        <p:tgtEl>
                                          <p:spTgt spid="8"/>
                                        </p:tgtEl>
                                        <p:attrNameLst>
                                          <p:attrName>r</p:attrName>
                                        </p:attrNameLst>
                                      </p:cBhvr>
                                    </p:animRot>
                                  </p:childTnLst>
                                </p:cTn>
                              </p:par>
                              <p:par>
                                <p:cTn id="11" presetID="32" presetClass="emph" presetSubtype="0" fill="hold" nodeType="withEffect">
                                  <p:stCondLst>
                                    <p:cond delay="0"/>
                                  </p:stCondLst>
                                  <p:childTnLst>
                                    <p:animRot by="120000">
                                      <p:cBhvr>
                                        <p:cTn id="12" dur="100" fill="hold">
                                          <p:stCondLst>
                                            <p:cond delay="0"/>
                                          </p:stCondLst>
                                        </p:cTn>
                                        <p:tgtEl>
                                          <p:spTgt spid="4"/>
                                        </p:tgtEl>
                                        <p:attrNameLst>
                                          <p:attrName>r</p:attrName>
                                        </p:attrNameLst>
                                      </p:cBhvr>
                                    </p:animRot>
                                    <p:animRot by="-240000">
                                      <p:cBhvr>
                                        <p:cTn id="13" dur="200" fill="hold">
                                          <p:stCondLst>
                                            <p:cond delay="200"/>
                                          </p:stCondLst>
                                        </p:cTn>
                                        <p:tgtEl>
                                          <p:spTgt spid="4"/>
                                        </p:tgtEl>
                                        <p:attrNameLst>
                                          <p:attrName>r</p:attrName>
                                        </p:attrNameLst>
                                      </p:cBhvr>
                                    </p:animRot>
                                    <p:animRot by="240000">
                                      <p:cBhvr>
                                        <p:cTn id="14" dur="200" fill="hold">
                                          <p:stCondLst>
                                            <p:cond delay="400"/>
                                          </p:stCondLst>
                                        </p:cTn>
                                        <p:tgtEl>
                                          <p:spTgt spid="4"/>
                                        </p:tgtEl>
                                        <p:attrNameLst>
                                          <p:attrName>r</p:attrName>
                                        </p:attrNameLst>
                                      </p:cBhvr>
                                    </p:animRot>
                                    <p:animRot by="-240000">
                                      <p:cBhvr>
                                        <p:cTn id="15" dur="200" fill="hold">
                                          <p:stCondLst>
                                            <p:cond delay="600"/>
                                          </p:stCondLst>
                                        </p:cTn>
                                        <p:tgtEl>
                                          <p:spTgt spid="4"/>
                                        </p:tgtEl>
                                        <p:attrNameLst>
                                          <p:attrName>r</p:attrName>
                                        </p:attrNameLst>
                                      </p:cBhvr>
                                    </p:animRot>
                                    <p:animRot by="120000">
                                      <p:cBhvr>
                                        <p:cTn id="16" dur="200" fill="hold">
                                          <p:stCondLst>
                                            <p:cond delay="800"/>
                                          </p:stCondLst>
                                        </p:cTn>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24CB9-E754-4DC2-A5AF-AC1DA408DEE5}"/>
              </a:ext>
            </a:extLst>
          </p:cNvPr>
          <p:cNvSpPr>
            <a:spLocks noGrp="1"/>
          </p:cNvSpPr>
          <p:nvPr>
            <p:ph type="title"/>
          </p:nvPr>
        </p:nvSpPr>
        <p:spPr>
          <a:xfrm>
            <a:off x="838200" y="182245"/>
            <a:ext cx="10515600" cy="1325563"/>
          </a:xfrm>
        </p:spPr>
        <p:txBody>
          <a:bodyPr>
            <a:normAutofit/>
          </a:bodyPr>
          <a:lstStyle/>
          <a:p>
            <a:pPr marL="0" marR="0" lvl="0" indent="0" algn="ctr">
              <a:spcAft>
                <a:spcPts val="0"/>
              </a:spcAft>
            </a:pPr>
            <a:r>
              <a:rPr lang="en-IN" b="1" dirty="0">
                <a:ln w="12700">
                  <a:solidFill>
                    <a:srgbClr val="002060"/>
                  </a:solidFill>
                  <a:prstDash val="solid"/>
                </a:ln>
                <a:solidFill>
                  <a:srgbClr val="002060"/>
                </a:solidFill>
                <a:effectLst>
                  <a:glow rad="63500">
                    <a:schemeClr val="accent5">
                      <a:satMod val="175000"/>
                      <a:alpha val="40000"/>
                    </a:schemeClr>
                  </a:glow>
                </a:effectLst>
                <a:sym typeface="Times New Roman"/>
              </a:rPr>
              <a:t>Methodology</a:t>
            </a:r>
          </a:p>
        </p:txBody>
      </p:sp>
      <p:pic>
        <p:nvPicPr>
          <p:cNvPr id="6" name="Content Placeholder 5">
            <a:extLst>
              <a:ext uri="{FF2B5EF4-FFF2-40B4-BE49-F238E27FC236}">
                <a16:creationId xmlns:a16="http://schemas.microsoft.com/office/drawing/2014/main" id="{C44F9D89-580D-1392-5C48-C9CB4C9AB2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1797" y="1660749"/>
            <a:ext cx="11108405" cy="1009855"/>
          </a:xfrm>
          <a:prstGeom prst="rect">
            <a:avLst/>
          </a:prstGeom>
        </p:spPr>
      </p:pic>
      <p:grpSp>
        <p:nvGrpSpPr>
          <p:cNvPr id="9" name="Group 8">
            <a:extLst>
              <a:ext uri="{FF2B5EF4-FFF2-40B4-BE49-F238E27FC236}">
                <a16:creationId xmlns:a16="http://schemas.microsoft.com/office/drawing/2014/main" id="{EF74FCB3-BAC0-42D5-A0B6-B2024DD22BB1}"/>
              </a:ext>
            </a:extLst>
          </p:cNvPr>
          <p:cNvGrpSpPr/>
          <p:nvPr/>
        </p:nvGrpSpPr>
        <p:grpSpPr>
          <a:xfrm>
            <a:off x="-10160" y="5842000"/>
            <a:ext cx="12207699" cy="882978"/>
            <a:chOff x="-10160" y="5638921"/>
            <a:chExt cx="12207699" cy="1086057"/>
          </a:xfrm>
        </p:grpSpPr>
        <p:cxnSp>
          <p:nvCxnSpPr>
            <p:cNvPr id="10" name="Straight Connector 9">
              <a:extLst>
                <a:ext uri="{FF2B5EF4-FFF2-40B4-BE49-F238E27FC236}">
                  <a16:creationId xmlns:a16="http://schemas.microsoft.com/office/drawing/2014/main" id="{60FD16CE-AC20-470D-9A0F-1EFF6A7C174E}"/>
                </a:ext>
              </a:extLst>
            </p:cNvPr>
            <p:cNvCxnSpPr>
              <a:cxnSpLocks/>
            </p:cNvCxnSpPr>
            <p:nvPr/>
          </p:nvCxnSpPr>
          <p:spPr>
            <a:xfrm>
              <a:off x="-10160" y="5638921"/>
              <a:ext cx="12207699"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FEC73B32-48A7-46C2-AA26-B506AB426926}"/>
                </a:ext>
              </a:extLst>
            </p:cNvPr>
            <p:cNvGrpSpPr/>
            <p:nvPr/>
          </p:nvGrpSpPr>
          <p:grpSpPr>
            <a:xfrm>
              <a:off x="1789931" y="5718176"/>
              <a:ext cx="8612137" cy="1006802"/>
              <a:chOff x="1217226" y="5598336"/>
              <a:chExt cx="8612137" cy="1006802"/>
            </a:xfrm>
          </p:grpSpPr>
          <p:sp>
            <p:nvSpPr>
              <p:cNvPr id="12" name="Google Shape;46;p2">
                <a:extLst>
                  <a:ext uri="{FF2B5EF4-FFF2-40B4-BE49-F238E27FC236}">
                    <a16:creationId xmlns:a16="http://schemas.microsoft.com/office/drawing/2014/main" id="{A0BE8808-4561-432D-9A0E-82FD6375474A}"/>
                  </a:ext>
                </a:extLst>
              </p:cNvPr>
              <p:cNvSpPr txBox="1"/>
              <p:nvPr/>
            </p:nvSpPr>
            <p:spPr>
              <a:xfrm>
                <a:off x="1844787" y="5927387"/>
                <a:ext cx="7984576" cy="3487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600" b="1" i="1" u="none" strike="noStrike" cap="none" dirty="0">
                    <a:solidFill>
                      <a:srgbClr val="002060"/>
                    </a:solidFill>
                    <a:latin typeface="Times New Roman"/>
                    <a:ea typeface="Times New Roman"/>
                    <a:cs typeface="Times New Roman"/>
                    <a:sym typeface="Times New Roman"/>
                  </a:rPr>
                  <a:t>Department of Computer Science &amp; Engineering</a:t>
                </a:r>
                <a:r>
                  <a:rPr lang="en-US" sz="1600" b="1" i="1" dirty="0">
                    <a:solidFill>
                      <a:srgbClr val="002060"/>
                    </a:solidFill>
                    <a:latin typeface="Times New Roman"/>
                    <a:ea typeface="Times New Roman"/>
                    <a:cs typeface="Times New Roman"/>
                    <a:sym typeface="Times New Roman"/>
                  </a:rPr>
                  <a:t> (</a:t>
                </a:r>
                <a:r>
                  <a:rPr lang="en-US" sz="1600" b="1" i="1" dirty="0" err="1">
                    <a:solidFill>
                      <a:srgbClr val="002060"/>
                    </a:solidFill>
                    <a:latin typeface="Times New Roman"/>
                    <a:ea typeface="Times New Roman"/>
                    <a:cs typeface="Times New Roman"/>
                    <a:sym typeface="Times New Roman"/>
                  </a:rPr>
                  <a:t>IoTCSBCT</a:t>
                </a:r>
                <a:r>
                  <a:rPr lang="en-US" sz="1600" b="1" i="1" dirty="0">
                    <a:solidFill>
                      <a:srgbClr val="002060"/>
                    </a:solidFill>
                    <a:latin typeface="Times New Roman"/>
                    <a:ea typeface="Times New Roman"/>
                    <a:cs typeface="Times New Roman"/>
                    <a:sym typeface="Times New Roman"/>
                  </a:rPr>
                  <a:t>), MHSSCE, Mumbai</a:t>
                </a:r>
                <a:endParaRPr sz="1600" b="1" i="1" u="none" strike="noStrike" cap="none" dirty="0">
                  <a:solidFill>
                    <a:srgbClr val="002060"/>
                  </a:solidFill>
                  <a:latin typeface="Times New Roman"/>
                  <a:ea typeface="Times New Roman"/>
                  <a:cs typeface="Times New Roman"/>
                  <a:sym typeface="Times New Roman"/>
                </a:endParaRPr>
              </a:p>
            </p:txBody>
          </p:sp>
          <p:pic>
            <p:nvPicPr>
              <p:cNvPr id="13" name="Picture 8" descr="EOTY(Engineer Of The Year) – MHSSCOE ACM CHAPTER">
                <a:extLst>
                  <a:ext uri="{FF2B5EF4-FFF2-40B4-BE49-F238E27FC236}">
                    <a16:creationId xmlns:a16="http://schemas.microsoft.com/office/drawing/2014/main" id="{DD8B67D6-5E1F-4069-B1D4-2E79D52588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7226" y="5598336"/>
                <a:ext cx="1011297" cy="1006802"/>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7" name="Picture 6">
            <a:extLst>
              <a:ext uri="{FF2B5EF4-FFF2-40B4-BE49-F238E27FC236}">
                <a16:creationId xmlns:a16="http://schemas.microsoft.com/office/drawing/2014/main" id="{14C07FBA-9459-CBE2-8B90-60ED86AF7245}"/>
              </a:ext>
            </a:extLst>
          </p:cNvPr>
          <p:cNvPicPr>
            <a:picLocks noChangeAspect="1"/>
          </p:cNvPicPr>
          <p:nvPr/>
        </p:nvPicPr>
        <p:blipFill>
          <a:blip r:embed="rId4"/>
          <a:srcRect t="-2599" b="11489"/>
          <a:stretch>
            <a:fillRect/>
          </a:stretch>
        </p:blipFill>
        <p:spPr>
          <a:xfrm>
            <a:off x="218251" y="3011235"/>
            <a:ext cx="5570030" cy="2563244"/>
          </a:xfrm>
          <a:prstGeom prst="rect">
            <a:avLst/>
          </a:prstGeom>
          <a:ln w="190500" cap="sq">
            <a:solidFill>
              <a:srgbClr val="0070C0"/>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16" name="Picture 15">
            <a:extLst>
              <a:ext uri="{FF2B5EF4-FFF2-40B4-BE49-F238E27FC236}">
                <a16:creationId xmlns:a16="http://schemas.microsoft.com/office/drawing/2014/main" id="{D8FC4914-42E2-14C8-E11A-32925609AECC}"/>
              </a:ext>
            </a:extLst>
          </p:cNvPr>
          <p:cNvPicPr>
            <a:picLocks noChangeAspect="1"/>
          </p:cNvPicPr>
          <p:nvPr/>
        </p:nvPicPr>
        <p:blipFill>
          <a:blip r:embed="rId5"/>
          <a:srcRect l="-1385" t="7592" b="13037"/>
          <a:stretch>
            <a:fillRect/>
          </a:stretch>
        </p:blipFill>
        <p:spPr>
          <a:xfrm>
            <a:off x="6333336" y="3011234"/>
            <a:ext cx="5640413" cy="2563244"/>
          </a:xfrm>
          <a:prstGeom prst="rect">
            <a:avLst/>
          </a:prstGeom>
          <a:ln w="190500" cap="sq">
            <a:solidFill>
              <a:srgbClr val="0070C0"/>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16452757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500">
        <p15:prstTrans prst="fractur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190C8-30F7-A984-96DD-40B1C05D7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279DC-D973-97E5-20E8-E6094D1B3CE7}"/>
              </a:ext>
            </a:extLst>
          </p:cNvPr>
          <p:cNvSpPr>
            <a:spLocks noGrp="1"/>
          </p:cNvSpPr>
          <p:nvPr>
            <p:ph type="title"/>
          </p:nvPr>
        </p:nvSpPr>
        <p:spPr>
          <a:xfrm>
            <a:off x="838200" y="153369"/>
            <a:ext cx="10515600" cy="1325563"/>
          </a:xfrm>
        </p:spPr>
        <p:txBody>
          <a:bodyPr>
            <a:normAutofit/>
          </a:bodyPr>
          <a:lstStyle/>
          <a:p>
            <a:pPr marL="0" marR="0" lvl="0" indent="0" algn="ctr">
              <a:spcAft>
                <a:spcPts val="0"/>
              </a:spcAft>
            </a:pPr>
            <a:r>
              <a:rPr lang="en-IN" b="1" dirty="0">
                <a:ln w="12700">
                  <a:solidFill>
                    <a:srgbClr val="002060"/>
                  </a:solidFill>
                  <a:prstDash val="solid"/>
                </a:ln>
                <a:solidFill>
                  <a:srgbClr val="002060"/>
                </a:solidFill>
                <a:effectLst>
                  <a:glow rad="63500">
                    <a:schemeClr val="accent5">
                      <a:satMod val="175000"/>
                      <a:alpha val="40000"/>
                    </a:schemeClr>
                  </a:glow>
                </a:effectLst>
                <a:sym typeface="Times New Roman"/>
              </a:rPr>
              <a:t>Methodology</a:t>
            </a:r>
          </a:p>
        </p:txBody>
      </p:sp>
      <p:grpSp>
        <p:nvGrpSpPr>
          <p:cNvPr id="9" name="Group 8">
            <a:extLst>
              <a:ext uri="{FF2B5EF4-FFF2-40B4-BE49-F238E27FC236}">
                <a16:creationId xmlns:a16="http://schemas.microsoft.com/office/drawing/2014/main" id="{710A4818-6246-B45D-5B30-754ECC1C53E0}"/>
              </a:ext>
            </a:extLst>
          </p:cNvPr>
          <p:cNvGrpSpPr/>
          <p:nvPr/>
        </p:nvGrpSpPr>
        <p:grpSpPr>
          <a:xfrm>
            <a:off x="-10160" y="5842000"/>
            <a:ext cx="12207699" cy="882978"/>
            <a:chOff x="-10160" y="5638921"/>
            <a:chExt cx="12207699" cy="1086057"/>
          </a:xfrm>
        </p:grpSpPr>
        <p:cxnSp>
          <p:nvCxnSpPr>
            <p:cNvPr id="10" name="Straight Connector 9">
              <a:extLst>
                <a:ext uri="{FF2B5EF4-FFF2-40B4-BE49-F238E27FC236}">
                  <a16:creationId xmlns:a16="http://schemas.microsoft.com/office/drawing/2014/main" id="{C11AD225-8DB7-3087-6401-F9ED1BFAE304}"/>
                </a:ext>
              </a:extLst>
            </p:cNvPr>
            <p:cNvCxnSpPr>
              <a:cxnSpLocks/>
            </p:cNvCxnSpPr>
            <p:nvPr/>
          </p:nvCxnSpPr>
          <p:spPr>
            <a:xfrm>
              <a:off x="-10160" y="5638921"/>
              <a:ext cx="12207699"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B3B3E3F-0C7E-0734-7F12-098773C19511}"/>
                </a:ext>
              </a:extLst>
            </p:cNvPr>
            <p:cNvGrpSpPr/>
            <p:nvPr/>
          </p:nvGrpSpPr>
          <p:grpSpPr>
            <a:xfrm>
              <a:off x="1789931" y="5718176"/>
              <a:ext cx="8612137" cy="1006802"/>
              <a:chOff x="1217226" y="5598336"/>
              <a:chExt cx="8612137" cy="1006802"/>
            </a:xfrm>
          </p:grpSpPr>
          <p:sp>
            <p:nvSpPr>
              <p:cNvPr id="12" name="Google Shape;46;p2">
                <a:extLst>
                  <a:ext uri="{FF2B5EF4-FFF2-40B4-BE49-F238E27FC236}">
                    <a16:creationId xmlns:a16="http://schemas.microsoft.com/office/drawing/2014/main" id="{1E96E0E8-8B4D-8F55-7F11-087AACE7C7B5}"/>
                  </a:ext>
                </a:extLst>
              </p:cNvPr>
              <p:cNvSpPr txBox="1"/>
              <p:nvPr/>
            </p:nvSpPr>
            <p:spPr>
              <a:xfrm>
                <a:off x="1844787" y="5927387"/>
                <a:ext cx="7984576" cy="3487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600" b="1" i="1" u="none" strike="noStrike" cap="none" dirty="0">
                    <a:solidFill>
                      <a:srgbClr val="002060"/>
                    </a:solidFill>
                    <a:latin typeface="Times New Roman"/>
                    <a:ea typeface="Times New Roman"/>
                    <a:cs typeface="Times New Roman"/>
                    <a:sym typeface="Times New Roman"/>
                  </a:rPr>
                  <a:t>Department of Computer Science &amp; Engineering</a:t>
                </a:r>
                <a:r>
                  <a:rPr lang="en-US" sz="1600" b="1" i="1" dirty="0">
                    <a:solidFill>
                      <a:srgbClr val="002060"/>
                    </a:solidFill>
                    <a:latin typeface="Times New Roman"/>
                    <a:ea typeface="Times New Roman"/>
                    <a:cs typeface="Times New Roman"/>
                    <a:sym typeface="Times New Roman"/>
                  </a:rPr>
                  <a:t> (</a:t>
                </a:r>
                <a:r>
                  <a:rPr lang="en-US" sz="1600" b="1" i="1" dirty="0" err="1">
                    <a:solidFill>
                      <a:srgbClr val="002060"/>
                    </a:solidFill>
                    <a:latin typeface="Times New Roman"/>
                    <a:ea typeface="Times New Roman"/>
                    <a:cs typeface="Times New Roman"/>
                    <a:sym typeface="Times New Roman"/>
                  </a:rPr>
                  <a:t>IoTCSBCT</a:t>
                </a:r>
                <a:r>
                  <a:rPr lang="en-US" sz="1600" b="1" i="1" dirty="0">
                    <a:solidFill>
                      <a:srgbClr val="002060"/>
                    </a:solidFill>
                    <a:latin typeface="Times New Roman"/>
                    <a:ea typeface="Times New Roman"/>
                    <a:cs typeface="Times New Roman"/>
                    <a:sym typeface="Times New Roman"/>
                  </a:rPr>
                  <a:t>), MHSSCE, Mumbai</a:t>
                </a:r>
                <a:endParaRPr sz="1600" b="1" i="1" u="none" strike="noStrike" cap="none" dirty="0">
                  <a:solidFill>
                    <a:srgbClr val="002060"/>
                  </a:solidFill>
                  <a:latin typeface="Times New Roman"/>
                  <a:ea typeface="Times New Roman"/>
                  <a:cs typeface="Times New Roman"/>
                  <a:sym typeface="Times New Roman"/>
                </a:endParaRPr>
              </a:p>
            </p:txBody>
          </p:sp>
          <p:pic>
            <p:nvPicPr>
              <p:cNvPr id="13" name="Picture 8" descr="EOTY(Engineer Of The Year) – MHSSCOE ACM CHAPTER">
                <a:extLst>
                  <a:ext uri="{FF2B5EF4-FFF2-40B4-BE49-F238E27FC236}">
                    <a16:creationId xmlns:a16="http://schemas.microsoft.com/office/drawing/2014/main" id="{84654DA6-158C-38A4-6C64-03E05F6846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226" y="5598336"/>
                <a:ext cx="1011297" cy="1006802"/>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5" name="Picture 4">
            <a:extLst>
              <a:ext uri="{FF2B5EF4-FFF2-40B4-BE49-F238E27FC236}">
                <a16:creationId xmlns:a16="http://schemas.microsoft.com/office/drawing/2014/main" id="{295040B9-F7A8-90F8-BD7B-F3F39C0525BB}"/>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400000"/>
                    </a14:imgEffect>
                  </a14:imgLayer>
                </a14:imgProps>
              </a:ext>
            </a:extLst>
          </a:blip>
          <a:srcRect t="902" b="13375"/>
          <a:stretch/>
        </p:blipFill>
        <p:spPr>
          <a:xfrm>
            <a:off x="1919236" y="1601275"/>
            <a:ext cx="8611438" cy="3908768"/>
          </a:xfrm>
          <a:prstGeom prst="rect">
            <a:avLst/>
          </a:prstGeom>
          <a:ln w="190500" cap="sq">
            <a:solidFill>
              <a:srgbClr val="0070C0"/>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1111162024"/>
      </p:ext>
    </p:extLst>
  </p:cSld>
  <p:clrMapOvr>
    <a:masterClrMapping/>
  </p:clrMapOvr>
  <mc:AlternateContent xmlns:mc="http://schemas.openxmlformats.org/markup-compatibility/2006" xmlns:p14="http://schemas.microsoft.com/office/powerpoint/2010/main">
    <mc:Choice Requires="p14">
      <p:transition spd="slow" p14:dur="2000">
        <p14:vortex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24CB9-E754-4DC2-A5AF-AC1DA408DEE5}"/>
              </a:ext>
            </a:extLst>
          </p:cNvPr>
          <p:cNvSpPr>
            <a:spLocks noGrp="1"/>
          </p:cNvSpPr>
          <p:nvPr>
            <p:ph type="title"/>
          </p:nvPr>
        </p:nvSpPr>
        <p:spPr/>
        <p:txBody>
          <a:bodyPr>
            <a:normAutofit/>
          </a:bodyPr>
          <a:lstStyle/>
          <a:p>
            <a:pPr marL="0" marR="0" lvl="0" indent="0" algn="ctr">
              <a:spcAft>
                <a:spcPts val="0"/>
              </a:spcAft>
            </a:pPr>
            <a:r>
              <a:rPr lang="en-IN" b="1" dirty="0">
                <a:ln w="12700">
                  <a:solidFill>
                    <a:srgbClr val="002060"/>
                  </a:solidFill>
                  <a:prstDash val="solid"/>
                </a:ln>
                <a:solidFill>
                  <a:srgbClr val="002060"/>
                </a:solidFill>
                <a:effectLst>
                  <a:glow rad="63500">
                    <a:schemeClr val="accent5">
                      <a:satMod val="175000"/>
                      <a:alpha val="40000"/>
                    </a:schemeClr>
                  </a:glow>
                </a:effectLst>
                <a:sym typeface="Times New Roman"/>
              </a:rPr>
              <a:t>Results</a:t>
            </a:r>
          </a:p>
        </p:txBody>
      </p:sp>
      <p:sp>
        <p:nvSpPr>
          <p:cNvPr id="3" name="Content Placeholder 2">
            <a:extLst>
              <a:ext uri="{FF2B5EF4-FFF2-40B4-BE49-F238E27FC236}">
                <a16:creationId xmlns:a16="http://schemas.microsoft.com/office/drawing/2014/main" id="{474D176B-6BE1-4AE1-9354-F8CA8FE573B9}"/>
              </a:ext>
            </a:extLst>
          </p:cNvPr>
          <p:cNvSpPr>
            <a:spLocks noGrp="1"/>
          </p:cNvSpPr>
          <p:nvPr>
            <p:ph idx="1"/>
          </p:nvPr>
        </p:nvSpPr>
        <p:spPr>
          <a:xfrm>
            <a:off x="481263" y="1825625"/>
            <a:ext cx="11078677" cy="4351338"/>
          </a:xfrm>
        </p:spPr>
        <p:txBody>
          <a:bodyPr>
            <a:normAutofit/>
          </a:bodyPr>
          <a:lstStyle/>
          <a:p>
            <a:pPr marL="404813" indent="-404813" algn="just">
              <a:buFont typeface="Wingdings" panose="05000000000000000000" pitchFamily="2" charset="2"/>
              <a:buChar char="ü"/>
              <a:tabLst>
                <a:tab pos="57150" algn="l"/>
                <a:tab pos="288925" algn="l"/>
              </a:tabLst>
            </a:pPr>
            <a:r>
              <a:rPr lang="en-US" sz="2400" dirty="0">
                <a:latin typeface="Aerial"/>
              </a:rPr>
              <a:t>The developed decentralized voting system was successfully implemented and tested using the Ethereum blockchain. Voters were able to securely connect their wallets via MetaMask, cast their votes, and view results in real time.</a:t>
            </a:r>
          </a:p>
          <a:p>
            <a:pPr marL="404813" indent="-404813" algn="just">
              <a:buFont typeface="Wingdings" panose="05000000000000000000" pitchFamily="2" charset="2"/>
              <a:buChar char="ü"/>
              <a:tabLst>
                <a:tab pos="288925" algn="l"/>
              </a:tabLst>
            </a:pPr>
            <a:endParaRPr lang="en-US" sz="700" dirty="0">
              <a:latin typeface="Aerial"/>
            </a:endParaRPr>
          </a:p>
          <a:p>
            <a:pPr marL="404813" indent="-404813" algn="just">
              <a:buFont typeface="Wingdings" panose="05000000000000000000" pitchFamily="2" charset="2"/>
              <a:buChar char="ü"/>
              <a:tabLst>
                <a:tab pos="288925" algn="l"/>
              </a:tabLst>
            </a:pPr>
            <a:r>
              <a:rPr lang="en-US" sz="2400" dirty="0">
                <a:latin typeface="Aerial"/>
              </a:rPr>
              <a:t>Smart contracts executed vote recording and automated counting accurately without any third-party intervention. The system ensured transparency, immutability, and tamper resistance throughout the election process.</a:t>
            </a:r>
          </a:p>
          <a:p>
            <a:pPr marL="404813" indent="-404813" algn="just">
              <a:buFont typeface="Wingdings" panose="05000000000000000000" pitchFamily="2" charset="2"/>
              <a:buChar char="ü"/>
              <a:tabLst>
                <a:tab pos="288925" algn="l"/>
              </a:tabLst>
            </a:pPr>
            <a:endParaRPr lang="en-US" sz="1200" dirty="0">
              <a:latin typeface="Aerial"/>
            </a:endParaRPr>
          </a:p>
          <a:p>
            <a:pPr marL="404813" indent="-404813" algn="just">
              <a:buFont typeface="Wingdings" panose="05000000000000000000" pitchFamily="2" charset="2"/>
              <a:buChar char="ü"/>
              <a:tabLst>
                <a:tab pos="288925" algn="l"/>
              </a:tabLst>
            </a:pPr>
            <a:r>
              <a:rPr lang="en-US" sz="2400" dirty="0">
                <a:latin typeface="Aerial"/>
              </a:rPr>
              <a:t>Testing using Ganache demonstrated reliable performance, secure vote storage, and instant on-the-spot vote counting with accurate result generation.</a:t>
            </a:r>
          </a:p>
        </p:txBody>
      </p:sp>
      <p:grpSp>
        <p:nvGrpSpPr>
          <p:cNvPr id="9" name="Group 8">
            <a:extLst>
              <a:ext uri="{FF2B5EF4-FFF2-40B4-BE49-F238E27FC236}">
                <a16:creationId xmlns:a16="http://schemas.microsoft.com/office/drawing/2014/main" id="{DA31E01D-7D25-4E05-9C16-67C148E1AC73}"/>
              </a:ext>
            </a:extLst>
          </p:cNvPr>
          <p:cNvGrpSpPr/>
          <p:nvPr/>
        </p:nvGrpSpPr>
        <p:grpSpPr>
          <a:xfrm>
            <a:off x="-10160" y="5842000"/>
            <a:ext cx="12207699" cy="882978"/>
            <a:chOff x="-10160" y="5638921"/>
            <a:chExt cx="12207699" cy="1086057"/>
          </a:xfrm>
        </p:grpSpPr>
        <p:cxnSp>
          <p:nvCxnSpPr>
            <p:cNvPr id="10" name="Straight Connector 9">
              <a:extLst>
                <a:ext uri="{FF2B5EF4-FFF2-40B4-BE49-F238E27FC236}">
                  <a16:creationId xmlns:a16="http://schemas.microsoft.com/office/drawing/2014/main" id="{53E22023-0A35-4F09-947E-D1CC93FA74F7}"/>
                </a:ext>
              </a:extLst>
            </p:cNvPr>
            <p:cNvCxnSpPr>
              <a:cxnSpLocks/>
            </p:cNvCxnSpPr>
            <p:nvPr/>
          </p:nvCxnSpPr>
          <p:spPr>
            <a:xfrm>
              <a:off x="-10160" y="5638921"/>
              <a:ext cx="12207699"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1883D017-5C4A-4C38-BFBF-CE70899FF1ED}"/>
                </a:ext>
              </a:extLst>
            </p:cNvPr>
            <p:cNvGrpSpPr/>
            <p:nvPr/>
          </p:nvGrpSpPr>
          <p:grpSpPr>
            <a:xfrm>
              <a:off x="1789931" y="5718176"/>
              <a:ext cx="8612137" cy="1006802"/>
              <a:chOff x="1217226" y="5598336"/>
              <a:chExt cx="8612137" cy="1006802"/>
            </a:xfrm>
          </p:grpSpPr>
          <p:sp>
            <p:nvSpPr>
              <p:cNvPr id="12" name="Google Shape;46;p2">
                <a:extLst>
                  <a:ext uri="{FF2B5EF4-FFF2-40B4-BE49-F238E27FC236}">
                    <a16:creationId xmlns:a16="http://schemas.microsoft.com/office/drawing/2014/main" id="{A81E912C-5540-4787-9B41-F42119586A8E}"/>
                  </a:ext>
                </a:extLst>
              </p:cNvPr>
              <p:cNvSpPr txBox="1"/>
              <p:nvPr/>
            </p:nvSpPr>
            <p:spPr>
              <a:xfrm>
                <a:off x="1844787" y="5927387"/>
                <a:ext cx="7984576" cy="3487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600" b="1" i="1" u="none" strike="noStrike" cap="none" dirty="0">
                    <a:solidFill>
                      <a:srgbClr val="002060"/>
                    </a:solidFill>
                    <a:latin typeface="Times New Roman"/>
                    <a:ea typeface="Times New Roman"/>
                    <a:cs typeface="Times New Roman"/>
                    <a:sym typeface="Times New Roman"/>
                  </a:rPr>
                  <a:t>Department of Computer Science &amp; Engineering</a:t>
                </a:r>
                <a:r>
                  <a:rPr lang="en-US" sz="1600" b="1" i="1" dirty="0">
                    <a:solidFill>
                      <a:srgbClr val="002060"/>
                    </a:solidFill>
                    <a:latin typeface="Times New Roman"/>
                    <a:ea typeface="Times New Roman"/>
                    <a:cs typeface="Times New Roman"/>
                    <a:sym typeface="Times New Roman"/>
                  </a:rPr>
                  <a:t> (</a:t>
                </a:r>
                <a:r>
                  <a:rPr lang="en-US" sz="1600" b="1" i="1" dirty="0" err="1">
                    <a:solidFill>
                      <a:srgbClr val="002060"/>
                    </a:solidFill>
                    <a:latin typeface="Times New Roman"/>
                    <a:ea typeface="Times New Roman"/>
                    <a:cs typeface="Times New Roman"/>
                    <a:sym typeface="Times New Roman"/>
                  </a:rPr>
                  <a:t>IoTCSBCT</a:t>
                </a:r>
                <a:r>
                  <a:rPr lang="en-US" sz="1600" b="1" i="1" dirty="0">
                    <a:solidFill>
                      <a:srgbClr val="002060"/>
                    </a:solidFill>
                    <a:latin typeface="Times New Roman"/>
                    <a:ea typeface="Times New Roman"/>
                    <a:cs typeface="Times New Roman"/>
                    <a:sym typeface="Times New Roman"/>
                  </a:rPr>
                  <a:t>), MHSSCE, Mumbai</a:t>
                </a:r>
                <a:endParaRPr sz="1600" b="1" i="1" u="none" strike="noStrike" cap="none" dirty="0">
                  <a:solidFill>
                    <a:srgbClr val="002060"/>
                  </a:solidFill>
                  <a:latin typeface="Times New Roman"/>
                  <a:ea typeface="Times New Roman"/>
                  <a:cs typeface="Times New Roman"/>
                  <a:sym typeface="Times New Roman"/>
                </a:endParaRPr>
              </a:p>
            </p:txBody>
          </p:sp>
          <p:pic>
            <p:nvPicPr>
              <p:cNvPr id="13" name="Picture 8" descr="EOTY(Engineer Of The Year) – MHSSCOE ACM CHAPTER">
                <a:extLst>
                  <a:ext uri="{FF2B5EF4-FFF2-40B4-BE49-F238E27FC236}">
                    <a16:creationId xmlns:a16="http://schemas.microsoft.com/office/drawing/2014/main" id="{5A19CF7C-08FC-420D-B731-BB50179B88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226" y="5598336"/>
                <a:ext cx="1011297" cy="1006802"/>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30788018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24CB9-E754-4DC2-A5AF-AC1DA408DEE5}"/>
              </a:ext>
            </a:extLst>
          </p:cNvPr>
          <p:cNvSpPr>
            <a:spLocks noGrp="1"/>
          </p:cNvSpPr>
          <p:nvPr>
            <p:ph type="title"/>
          </p:nvPr>
        </p:nvSpPr>
        <p:spPr/>
        <p:txBody>
          <a:bodyPr>
            <a:normAutofit/>
          </a:bodyPr>
          <a:lstStyle/>
          <a:p>
            <a:pPr marL="0" marR="0" lvl="0" indent="0" algn="ctr">
              <a:spcAft>
                <a:spcPts val="0"/>
              </a:spcAft>
            </a:pPr>
            <a:r>
              <a:rPr lang="en-IN" b="1" dirty="0">
                <a:ln w="12700">
                  <a:solidFill>
                    <a:srgbClr val="002060"/>
                  </a:solidFill>
                  <a:prstDash val="solid"/>
                </a:ln>
                <a:solidFill>
                  <a:srgbClr val="002060"/>
                </a:solidFill>
                <a:effectLst>
                  <a:glow rad="63500">
                    <a:schemeClr val="accent5">
                      <a:satMod val="175000"/>
                      <a:alpha val="40000"/>
                    </a:schemeClr>
                  </a:glow>
                </a:effectLst>
                <a:sym typeface="Times New Roman"/>
              </a:rPr>
              <a:t>Conclusion</a:t>
            </a:r>
          </a:p>
        </p:txBody>
      </p:sp>
      <p:sp>
        <p:nvSpPr>
          <p:cNvPr id="3" name="Content Placeholder 2">
            <a:extLst>
              <a:ext uri="{FF2B5EF4-FFF2-40B4-BE49-F238E27FC236}">
                <a16:creationId xmlns:a16="http://schemas.microsoft.com/office/drawing/2014/main" id="{474D176B-6BE1-4AE1-9354-F8CA8FE573B9}"/>
              </a:ext>
            </a:extLst>
          </p:cNvPr>
          <p:cNvSpPr>
            <a:spLocks noGrp="1"/>
          </p:cNvSpPr>
          <p:nvPr>
            <p:ph idx="1"/>
          </p:nvPr>
        </p:nvSpPr>
        <p:spPr/>
        <p:txBody>
          <a:bodyPr>
            <a:normAutofit/>
          </a:bodyPr>
          <a:lstStyle/>
          <a:p>
            <a:pPr marL="0" indent="0" algn="just">
              <a:buNone/>
            </a:pPr>
            <a:r>
              <a:rPr lang="en-US" sz="2400" dirty="0"/>
              <a:t>The proposed Decentralized Voting System successfully demonstrates how blockchain technology can enhance transparency, security, and trust in digital elections. By leveraging Ethereum smart contracts, the system ensures tamper-proof vote recording, automated vote counting, and elimination of intermediaries.</a:t>
            </a:r>
          </a:p>
          <a:p>
            <a:pPr marL="0" indent="0" algn="just">
              <a:buNone/>
            </a:pPr>
            <a:endParaRPr lang="en-US" sz="2400" dirty="0"/>
          </a:p>
          <a:p>
            <a:pPr marL="0" indent="0" algn="just">
              <a:buNone/>
            </a:pPr>
            <a:r>
              <a:rPr lang="en-US" sz="2400" dirty="0"/>
              <a:t>The integration of MetaMask authentication and a user-friendly frontend makes the platform practical and accessible. Overall, the project provides a reliable, secure, and efficient solution for modern online voting systems.</a:t>
            </a:r>
          </a:p>
          <a:p>
            <a:pPr marL="0" indent="0" algn="just">
              <a:buNone/>
            </a:pPr>
            <a:endParaRPr lang="en-IN" sz="2400" dirty="0"/>
          </a:p>
        </p:txBody>
      </p:sp>
      <p:grpSp>
        <p:nvGrpSpPr>
          <p:cNvPr id="9" name="Group 8">
            <a:extLst>
              <a:ext uri="{FF2B5EF4-FFF2-40B4-BE49-F238E27FC236}">
                <a16:creationId xmlns:a16="http://schemas.microsoft.com/office/drawing/2014/main" id="{48C743E2-7BC0-4D37-9C7C-510E765651CE}"/>
              </a:ext>
            </a:extLst>
          </p:cNvPr>
          <p:cNvGrpSpPr/>
          <p:nvPr/>
        </p:nvGrpSpPr>
        <p:grpSpPr>
          <a:xfrm>
            <a:off x="-10160" y="5842000"/>
            <a:ext cx="12207699" cy="882978"/>
            <a:chOff x="-10160" y="5638921"/>
            <a:chExt cx="12207699" cy="1086057"/>
          </a:xfrm>
        </p:grpSpPr>
        <p:cxnSp>
          <p:nvCxnSpPr>
            <p:cNvPr id="10" name="Straight Connector 9">
              <a:extLst>
                <a:ext uri="{FF2B5EF4-FFF2-40B4-BE49-F238E27FC236}">
                  <a16:creationId xmlns:a16="http://schemas.microsoft.com/office/drawing/2014/main" id="{91FCB1B7-0DBE-4B00-8164-BB69F4156221}"/>
                </a:ext>
              </a:extLst>
            </p:cNvPr>
            <p:cNvCxnSpPr>
              <a:cxnSpLocks/>
            </p:cNvCxnSpPr>
            <p:nvPr/>
          </p:nvCxnSpPr>
          <p:spPr>
            <a:xfrm>
              <a:off x="-10160" y="5638921"/>
              <a:ext cx="12207699"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977D0280-4E6A-4DF8-95FE-1F279924E0CC}"/>
                </a:ext>
              </a:extLst>
            </p:cNvPr>
            <p:cNvGrpSpPr/>
            <p:nvPr/>
          </p:nvGrpSpPr>
          <p:grpSpPr>
            <a:xfrm>
              <a:off x="1789931" y="5718176"/>
              <a:ext cx="8612137" cy="1006802"/>
              <a:chOff x="1217226" y="5598336"/>
              <a:chExt cx="8612137" cy="1006802"/>
            </a:xfrm>
          </p:grpSpPr>
          <p:sp>
            <p:nvSpPr>
              <p:cNvPr id="12" name="Google Shape;46;p2">
                <a:extLst>
                  <a:ext uri="{FF2B5EF4-FFF2-40B4-BE49-F238E27FC236}">
                    <a16:creationId xmlns:a16="http://schemas.microsoft.com/office/drawing/2014/main" id="{CB3F586A-7572-4272-81B4-940DC949E722}"/>
                  </a:ext>
                </a:extLst>
              </p:cNvPr>
              <p:cNvSpPr txBox="1"/>
              <p:nvPr/>
            </p:nvSpPr>
            <p:spPr>
              <a:xfrm>
                <a:off x="1844787" y="5927387"/>
                <a:ext cx="7984576" cy="3487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600" b="1" i="1" u="none" strike="noStrike" cap="none" dirty="0">
                    <a:solidFill>
                      <a:srgbClr val="002060"/>
                    </a:solidFill>
                    <a:latin typeface="Times New Roman"/>
                    <a:ea typeface="Times New Roman"/>
                    <a:cs typeface="Times New Roman"/>
                    <a:sym typeface="Times New Roman"/>
                  </a:rPr>
                  <a:t>Department of Computer Science &amp; Engineering</a:t>
                </a:r>
                <a:r>
                  <a:rPr lang="en-US" sz="1600" b="1" i="1" dirty="0">
                    <a:solidFill>
                      <a:srgbClr val="002060"/>
                    </a:solidFill>
                    <a:latin typeface="Times New Roman"/>
                    <a:ea typeface="Times New Roman"/>
                    <a:cs typeface="Times New Roman"/>
                    <a:sym typeface="Times New Roman"/>
                  </a:rPr>
                  <a:t> (</a:t>
                </a:r>
                <a:r>
                  <a:rPr lang="en-US" sz="1600" b="1" i="1" dirty="0" err="1">
                    <a:solidFill>
                      <a:srgbClr val="002060"/>
                    </a:solidFill>
                    <a:latin typeface="Times New Roman"/>
                    <a:ea typeface="Times New Roman"/>
                    <a:cs typeface="Times New Roman"/>
                    <a:sym typeface="Times New Roman"/>
                  </a:rPr>
                  <a:t>IoTCSBCT</a:t>
                </a:r>
                <a:r>
                  <a:rPr lang="en-US" sz="1600" b="1" i="1" dirty="0">
                    <a:solidFill>
                      <a:srgbClr val="002060"/>
                    </a:solidFill>
                    <a:latin typeface="Times New Roman"/>
                    <a:ea typeface="Times New Roman"/>
                    <a:cs typeface="Times New Roman"/>
                    <a:sym typeface="Times New Roman"/>
                  </a:rPr>
                  <a:t>), MHSSCE, Mumbai</a:t>
                </a:r>
                <a:endParaRPr sz="1600" b="1" i="1" u="none" strike="noStrike" cap="none" dirty="0">
                  <a:solidFill>
                    <a:srgbClr val="002060"/>
                  </a:solidFill>
                  <a:latin typeface="Times New Roman"/>
                  <a:ea typeface="Times New Roman"/>
                  <a:cs typeface="Times New Roman"/>
                  <a:sym typeface="Times New Roman"/>
                </a:endParaRPr>
              </a:p>
            </p:txBody>
          </p:sp>
          <p:pic>
            <p:nvPicPr>
              <p:cNvPr id="13" name="Picture 8" descr="EOTY(Engineer Of The Year) – MHSSCOE ACM CHAPTER">
                <a:extLst>
                  <a:ext uri="{FF2B5EF4-FFF2-40B4-BE49-F238E27FC236}">
                    <a16:creationId xmlns:a16="http://schemas.microsoft.com/office/drawing/2014/main" id="{377AC01F-555D-4B91-B103-36D3B27553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226" y="5598336"/>
                <a:ext cx="1011297" cy="1006802"/>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16779034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origami" invX="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24CB9-E754-4DC2-A5AF-AC1DA408DEE5}"/>
              </a:ext>
            </a:extLst>
          </p:cNvPr>
          <p:cNvSpPr>
            <a:spLocks noGrp="1"/>
          </p:cNvSpPr>
          <p:nvPr>
            <p:ph type="title"/>
          </p:nvPr>
        </p:nvSpPr>
        <p:spPr>
          <a:xfrm>
            <a:off x="838200" y="162994"/>
            <a:ext cx="10515600" cy="1325563"/>
          </a:xfrm>
        </p:spPr>
        <p:txBody>
          <a:bodyPr>
            <a:normAutofit/>
          </a:bodyPr>
          <a:lstStyle/>
          <a:p>
            <a:pPr marL="0" marR="0" lvl="0" indent="0" algn="ctr">
              <a:spcAft>
                <a:spcPts val="0"/>
              </a:spcAft>
            </a:pPr>
            <a:r>
              <a:rPr lang="en-IN" b="1" dirty="0">
                <a:ln w="12700">
                  <a:solidFill>
                    <a:srgbClr val="002060"/>
                  </a:solidFill>
                  <a:prstDash val="solid"/>
                </a:ln>
                <a:solidFill>
                  <a:srgbClr val="002060"/>
                </a:solidFill>
                <a:effectLst>
                  <a:glow rad="63500">
                    <a:schemeClr val="accent5">
                      <a:satMod val="175000"/>
                      <a:alpha val="40000"/>
                    </a:schemeClr>
                  </a:glow>
                </a:effectLst>
                <a:sym typeface="Times New Roman"/>
              </a:rPr>
              <a:t>References</a:t>
            </a:r>
          </a:p>
        </p:txBody>
      </p:sp>
      <p:sp>
        <p:nvSpPr>
          <p:cNvPr id="3" name="Content Placeholder 2">
            <a:extLst>
              <a:ext uri="{FF2B5EF4-FFF2-40B4-BE49-F238E27FC236}">
                <a16:creationId xmlns:a16="http://schemas.microsoft.com/office/drawing/2014/main" id="{474D176B-6BE1-4AE1-9354-F8CA8FE573B9}"/>
              </a:ext>
            </a:extLst>
          </p:cNvPr>
          <p:cNvSpPr>
            <a:spLocks noGrp="1"/>
          </p:cNvSpPr>
          <p:nvPr>
            <p:ph idx="1"/>
          </p:nvPr>
        </p:nvSpPr>
        <p:spPr>
          <a:xfrm>
            <a:off x="838200" y="1389119"/>
            <a:ext cx="10515600" cy="4351338"/>
          </a:xfrm>
        </p:spPr>
        <p:txBody>
          <a:bodyPr>
            <a:normAutofit fontScale="92500"/>
          </a:bodyPr>
          <a:lstStyle/>
          <a:p>
            <a:pPr marL="0" indent="0">
              <a:lnSpc>
                <a:spcPct val="100000"/>
              </a:lnSpc>
              <a:buNone/>
            </a:pPr>
            <a:r>
              <a:rPr lang="en-US" sz="1800" dirty="0"/>
              <a:t>[1] A. </a:t>
            </a:r>
            <a:r>
              <a:rPr lang="en-US" sz="1800" dirty="0" err="1"/>
              <a:t>Kiayias</a:t>
            </a:r>
            <a:r>
              <a:rPr lang="en-US" sz="1800" dirty="0"/>
              <a:t>, T. Zacharias, and B. Zhang, “End-to-End Verifiable Elections in the Standard Model,” </a:t>
            </a:r>
            <a:r>
              <a:rPr lang="en-US" sz="1800" i="1" dirty="0"/>
              <a:t>IEEE Symposium on Security and Privacy</a:t>
            </a:r>
            <a:r>
              <a:rPr lang="en-US" sz="1800" dirty="0"/>
              <a:t>, pp. 468–483, 2015.</a:t>
            </a:r>
          </a:p>
          <a:p>
            <a:pPr marL="0" indent="0">
              <a:lnSpc>
                <a:spcPct val="100000"/>
              </a:lnSpc>
              <a:buNone/>
            </a:pPr>
            <a:endParaRPr lang="en-US" sz="100" dirty="0"/>
          </a:p>
          <a:p>
            <a:pPr marL="0" indent="0">
              <a:lnSpc>
                <a:spcPct val="100000"/>
              </a:lnSpc>
              <a:buNone/>
            </a:pPr>
            <a:r>
              <a:rPr lang="en-US" sz="1800" dirty="0"/>
              <a:t>[2] K. Christidis and M. </a:t>
            </a:r>
            <a:r>
              <a:rPr lang="en-US" sz="1800" dirty="0" err="1"/>
              <a:t>Devetsikiotis</a:t>
            </a:r>
            <a:r>
              <a:rPr lang="en-US" sz="1800" dirty="0"/>
              <a:t>, “Blockchains and Smart Contracts for the Internet of Things,” </a:t>
            </a:r>
            <a:r>
              <a:rPr lang="en-US" sz="1800" i="1" dirty="0"/>
              <a:t>IEEE Access</a:t>
            </a:r>
            <a:r>
              <a:rPr lang="en-US" sz="1800" dirty="0"/>
              <a:t>, vol. 4, pp. 2292–2303, 2016.</a:t>
            </a:r>
          </a:p>
          <a:p>
            <a:pPr marL="0" indent="0">
              <a:lnSpc>
                <a:spcPct val="100000"/>
              </a:lnSpc>
              <a:buNone/>
            </a:pPr>
            <a:endParaRPr lang="en-US" sz="100" dirty="0"/>
          </a:p>
          <a:p>
            <a:pPr marL="0" indent="0">
              <a:lnSpc>
                <a:spcPct val="100000"/>
              </a:lnSpc>
              <a:buNone/>
            </a:pPr>
            <a:r>
              <a:rPr lang="en-US" sz="1800" dirty="0"/>
              <a:t>[3] S. Nakamoto, “Bitcoin: A Peer-to-Peer Electronic Cash System,” 2008. [Online]. Available: </a:t>
            </a:r>
            <a:r>
              <a:rPr lang="en-US" sz="1800" dirty="0">
                <a:hlinkClick r:id="rId2"/>
              </a:rPr>
              <a:t>https://bitcoin.org/bitcoin.pdf</a:t>
            </a:r>
            <a:endParaRPr lang="en-US" sz="1800" dirty="0"/>
          </a:p>
          <a:p>
            <a:pPr marL="0" indent="0">
              <a:lnSpc>
                <a:spcPct val="100000"/>
              </a:lnSpc>
              <a:buNone/>
            </a:pPr>
            <a:endParaRPr lang="en-US" sz="100" dirty="0"/>
          </a:p>
          <a:p>
            <a:pPr marL="0" indent="0">
              <a:lnSpc>
                <a:spcPct val="100000"/>
              </a:lnSpc>
              <a:buNone/>
            </a:pPr>
            <a:r>
              <a:rPr lang="en-US" sz="1800" dirty="0"/>
              <a:t>[4] A. </a:t>
            </a:r>
            <a:r>
              <a:rPr lang="en-US" sz="1800" dirty="0" err="1"/>
              <a:t>Kshetri</a:t>
            </a:r>
            <a:r>
              <a:rPr lang="en-US" sz="1800" dirty="0"/>
              <a:t> and J. </a:t>
            </a:r>
            <a:r>
              <a:rPr lang="en-US" sz="1800" dirty="0" err="1"/>
              <a:t>Voas</a:t>
            </a:r>
            <a:r>
              <a:rPr lang="en-US" sz="1800" dirty="0"/>
              <a:t>, “Blockchain-Enabled E-Voting,” </a:t>
            </a:r>
            <a:r>
              <a:rPr lang="en-US" sz="1800" i="1" dirty="0"/>
              <a:t>IEEE Software</a:t>
            </a:r>
            <a:r>
              <a:rPr lang="en-US" sz="1800" dirty="0"/>
              <a:t>, vol. 35, no. 4, pp. 95–99, July/Aug. 2018.</a:t>
            </a:r>
          </a:p>
          <a:p>
            <a:pPr marL="0" indent="0">
              <a:lnSpc>
                <a:spcPct val="100000"/>
              </a:lnSpc>
              <a:buNone/>
            </a:pPr>
            <a:endParaRPr lang="en-US" sz="100" dirty="0"/>
          </a:p>
          <a:p>
            <a:pPr marL="0" indent="0">
              <a:lnSpc>
                <a:spcPct val="100000"/>
              </a:lnSpc>
              <a:buNone/>
            </a:pPr>
            <a:r>
              <a:rPr lang="en-US" sz="1800" dirty="0"/>
              <a:t>[5] M. Pawlak, M. </a:t>
            </a:r>
            <a:r>
              <a:rPr lang="en-US" sz="1800" dirty="0" err="1"/>
              <a:t>Poniszewska</a:t>
            </a:r>
            <a:r>
              <a:rPr lang="en-US" sz="1800" dirty="0"/>
              <a:t>-Maranda, and M. </a:t>
            </a:r>
            <a:r>
              <a:rPr lang="en-US" sz="1800" dirty="0" err="1"/>
              <a:t>Kryvinska</a:t>
            </a:r>
            <a:r>
              <a:rPr lang="en-US" sz="1800" dirty="0"/>
              <a:t>, “Towards the Intelligent Agents for Blockchain e-Voting System,” </a:t>
            </a:r>
            <a:r>
              <a:rPr lang="en-US" sz="1800" i="1" dirty="0"/>
              <a:t>Procedia Computer Science</a:t>
            </a:r>
            <a:r>
              <a:rPr lang="en-US" sz="1800" dirty="0"/>
              <a:t>, vol. 141, pp. 239–246, 2018.</a:t>
            </a:r>
          </a:p>
          <a:p>
            <a:pPr marL="0" indent="0">
              <a:lnSpc>
                <a:spcPct val="100000"/>
              </a:lnSpc>
              <a:buNone/>
            </a:pPr>
            <a:endParaRPr lang="en-US" sz="100" dirty="0"/>
          </a:p>
          <a:p>
            <a:pPr marL="0" indent="0">
              <a:lnSpc>
                <a:spcPct val="100000"/>
              </a:lnSpc>
              <a:buNone/>
            </a:pPr>
            <a:r>
              <a:rPr lang="en-US" sz="1800" dirty="0"/>
              <a:t>[6] A. T. Sherman et al., “On the Use of Blockchain for Electronic Voting,” </a:t>
            </a:r>
            <a:r>
              <a:rPr lang="en-US" sz="1800" i="1" dirty="0"/>
              <a:t>International Conference on Financial Cryptography and Data Security</a:t>
            </a:r>
            <a:r>
              <a:rPr lang="en-US" sz="1800" dirty="0"/>
              <a:t>, 2019.</a:t>
            </a:r>
          </a:p>
        </p:txBody>
      </p:sp>
      <p:grpSp>
        <p:nvGrpSpPr>
          <p:cNvPr id="9" name="Group 8">
            <a:extLst>
              <a:ext uri="{FF2B5EF4-FFF2-40B4-BE49-F238E27FC236}">
                <a16:creationId xmlns:a16="http://schemas.microsoft.com/office/drawing/2014/main" id="{7E242EDC-C69D-4E6D-831B-BF2E86986549}"/>
              </a:ext>
            </a:extLst>
          </p:cNvPr>
          <p:cNvGrpSpPr/>
          <p:nvPr/>
        </p:nvGrpSpPr>
        <p:grpSpPr>
          <a:xfrm>
            <a:off x="-10160" y="5842000"/>
            <a:ext cx="12207699" cy="882978"/>
            <a:chOff x="-10160" y="5638921"/>
            <a:chExt cx="12207699" cy="1086057"/>
          </a:xfrm>
        </p:grpSpPr>
        <p:cxnSp>
          <p:nvCxnSpPr>
            <p:cNvPr id="10" name="Straight Connector 9">
              <a:extLst>
                <a:ext uri="{FF2B5EF4-FFF2-40B4-BE49-F238E27FC236}">
                  <a16:creationId xmlns:a16="http://schemas.microsoft.com/office/drawing/2014/main" id="{9F9A1D88-50A6-4DF2-BAC1-9C7BA0541588}"/>
                </a:ext>
              </a:extLst>
            </p:cNvPr>
            <p:cNvCxnSpPr>
              <a:cxnSpLocks/>
            </p:cNvCxnSpPr>
            <p:nvPr/>
          </p:nvCxnSpPr>
          <p:spPr>
            <a:xfrm>
              <a:off x="-10160" y="5638921"/>
              <a:ext cx="12207699"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08DEFFCF-1F4E-4CF4-BD1B-450F59F3C4DD}"/>
                </a:ext>
              </a:extLst>
            </p:cNvPr>
            <p:cNvGrpSpPr/>
            <p:nvPr/>
          </p:nvGrpSpPr>
          <p:grpSpPr>
            <a:xfrm>
              <a:off x="1789931" y="5718176"/>
              <a:ext cx="8612137" cy="1006802"/>
              <a:chOff x="1217226" y="5598336"/>
              <a:chExt cx="8612137" cy="1006802"/>
            </a:xfrm>
          </p:grpSpPr>
          <p:sp>
            <p:nvSpPr>
              <p:cNvPr id="12" name="Google Shape;46;p2">
                <a:extLst>
                  <a:ext uri="{FF2B5EF4-FFF2-40B4-BE49-F238E27FC236}">
                    <a16:creationId xmlns:a16="http://schemas.microsoft.com/office/drawing/2014/main" id="{A588A5DA-A24D-4B15-832E-90002414D762}"/>
                  </a:ext>
                </a:extLst>
              </p:cNvPr>
              <p:cNvSpPr txBox="1"/>
              <p:nvPr/>
            </p:nvSpPr>
            <p:spPr>
              <a:xfrm>
                <a:off x="1844787" y="5927387"/>
                <a:ext cx="7984576" cy="3487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600" b="1" i="1" u="none" strike="noStrike" cap="none" dirty="0">
                    <a:solidFill>
                      <a:srgbClr val="002060"/>
                    </a:solidFill>
                    <a:latin typeface="Times New Roman"/>
                    <a:ea typeface="Times New Roman"/>
                    <a:cs typeface="Times New Roman"/>
                    <a:sym typeface="Times New Roman"/>
                  </a:rPr>
                  <a:t>Department of Computer Science &amp; Engineering</a:t>
                </a:r>
                <a:r>
                  <a:rPr lang="en-US" sz="1600" b="1" i="1" dirty="0">
                    <a:solidFill>
                      <a:srgbClr val="002060"/>
                    </a:solidFill>
                    <a:latin typeface="Times New Roman"/>
                    <a:ea typeface="Times New Roman"/>
                    <a:cs typeface="Times New Roman"/>
                    <a:sym typeface="Times New Roman"/>
                  </a:rPr>
                  <a:t> (</a:t>
                </a:r>
                <a:r>
                  <a:rPr lang="en-US" sz="1600" b="1" i="1" dirty="0" err="1">
                    <a:solidFill>
                      <a:srgbClr val="002060"/>
                    </a:solidFill>
                    <a:latin typeface="Times New Roman"/>
                    <a:ea typeface="Times New Roman"/>
                    <a:cs typeface="Times New Roman"/>
                    <a:sym typeface="Times New Roman"/>
                  </a:rPr>
                  <a:t>IoTCSBCT</a:t>
                </a:r>
                <a:r>
                  <a:rPr lang="en-US" sz="1600" b="1" i="1" dirty="0">
                    <a:solidFill>
                      <a:srgbClr val="002060"/>
                    </a:solidFill>
                    <a:latin typeface="Times New Roman"/>
                    <a:ea typeface="Times New Roman"/>
                    <a:cs typeface="Times New Roman"/>
                    <a:sym typeface="Times New Roman"/>
                  </a:rPr>
                  <a:t>), MHSSCE, Mumbai</a:t>
                </a:r>
                <a:endParaRPr sz="1600" b="1" i="1" u="none" strike="noStrike" cap="none" dirty="0">
                  <a:solidFill>
                    <a:srgbClr val="002060"/>
                  </a:solidFill>
                  <a:latin typeface="Times New Roman"/>
                  <a:ea typeface="Times New Roman"/>
                  <a:cs typeface="Times New Roman"/>
                  <a:sym typeface="Times New Roman"/>
                </a:endParaRPr>
              </a:p>
            </p:txBody>
          </p:sp>
          <p:pic>
            <p:nvPicPr>
              <p:cNvPr id="13" name="Picture 8" descr="EOTY(Engineer Of The Year) – MHSSCOE ACM CHAPTER">
                <a:extLst>
                  <a:ext uri="{FF2B5EF4-FFF2-40B4-BE49-F238E27FC236}">
                    <a16:creationId xmlns:a16="http://schemas.microsoft.com/office/drawing/2014/main" id="{0DAC8549-7739-453C-8B18-605222654F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7226" y="5598336"/>
                <a:ext cx="1011297" cy="1006802"/>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674658865"/>
      </p:ext>
    </p:extLst>
  </p:cSld>
  <p:clrMapOvr>
    <a:masterClrMapping/>
  </p:clrMapOvr>
  <mc:AlternateContent xmlns:mc="http://schemas.openxmlformats.org/markup-compatibility/2006" xmlns:p14="http://schemas.microsoft.com/office/powerpoint/2010/main">
    <mc:Choice Requires="p14">
      <p:transition spd="slow" p14:dur="2000">
        <p14:shred pattern="rectang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1EF22F-2533-FEFC-3DC6-7EB3E78260C3}"/>
              </a:ext>
            </a:extLst>
          </p:cNvPr>
          <p:cNvSpPr/>
          <p:nvPr/>
        </p:nvSpPr>
        <p:spPr>
          <a:xfrm>
            <a:off x="-721895" y="-125128"/>
            <a:ext cx="13706375" cy="730557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424CB9-E754-4DC2-A5AF-AC1DA408DEE5}"/>
              </a:ext>
            </a:extLst>
          </p:cNvPr>
          <p:cNvSpPr>
            <a:spLocks noGrp="1"/>
          </p:cNvSpPr>
          <p:nvPr>
            <p:ph type="title"/>
          </p:nvPr>
        </p:nvSpPr>
        <p:spPr>
          <a:xfrm>
            <a:off x="189714" y="621790"/>
            <a:ext cx="11812571" cy="2692111"/>
          </a:xfrm>
        </p:spPr>
        <p:txBody>
          <a:bodyPr>
            <a:normAutofit/>
          </a:bodyPr>
          <a:lstStyle/>
          <a:p>
            <a:pPr marL="0" marR="0" lvl="0" indent="0" algn="ctr">
              <a:spcAft>
                <a:spcPts val="0"/>
              </a:spcAft>
            </a:pPr>
            <a:r>
              <a:rPr lang="en-US" sz="13800" dirty="0">
                <a:ln w="19050">
                  <a:solidFill>
                    <a:srgbClr val="FF0000"/>
                  </a:solidFill>
                </a:ln>
                <a:noFill/>
                <a:effectLst>
                  <a:glow rad="139700">
                    <a:schemeClr val="accent2">
                      <a:satMod val="175000"/>
                      <a:alpha val="40000"/>
                    </a:schemeClr>
                  </a:glow>
                </a:effectLst>
                <a:latin typeface="Aharoni" panose="02010803020104030203" pitchFamily="2" charset="-79"/>
                <a:ea typeface="ADLaM Display" panose="020F0502020204030204" pitchFamily="2" charset="0"/>
                <a:cs typeface="Aharoni" panose="02010803020104030203" pitchFamily="2" charset="-79"/>
              </a:rPr>
              <a:t>THANK  YOU</a:t>
            </a:r>
            <a:endParaRPr lang="en-IN" sz="5400" dirty="0">
              <a:ln w="12700">
                <a:solidFill>
                  <a:srgbClr val="002060"/>
                </a:solidFill>
                <a:prstDash val="solid"/>
              </a:ln>
              <a:noFill/>
              <a:effectLst>
                <a:glow rad="139700">
                  <a:schemeClr val="accent2">
                    <a:satMod val="175000"/>
                    <a:alpha val="40000"/>
                  </a:schemeClr>
                </a:glow>
              </a:effectLst>
              <a:latin typeface="Aharoni" panose="02010803020104030203" pitchFamily="2" charset="-79"/>
              <a:ea typeface="ADLaM Display" panose="020F0502020204030204" pitchFamily="2" charset="0"/>
              <a:cs typeface="Aharoni" panose="02010803020104030203" pitchFamily="2" charset="-79"/>
              <a:sym typeface="Times New Roman"/>
            </a:endParaRPr>
          </a:p>
        </p:txBody>
      </p:sp>
      <p:sp>
        <p:nvSpPr>
          <p:cNvPr id="3" name="Text Placeholder 8">
            <a:extLst>
              <a:ext uri="{FF2B5EF4-FFF2-40B4-BE49-F238E27FC236}">
                <a16:creationId xmlns:a16="http://schemas.microsoft.com/office/drawing/2014/main" id="{06087410-0850-4F8F-49E6-B4FEBD080A10}"/>
              </a:ext>
            </a:extLst>
          </p:cNvPr>
          <p:cNvSpPr txBox="1">
            <a:spLocks/>
          </p:cNvSpPr>
          <p:nvPr/>
        </p:nvSpPr>
        <p:spPr>
          <a:xfrm>
            <a:off x="4038703" y="3539555"/>
            <a:ext cx="4454847" cy="28989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rgbClr val="0070C0"/>
                </a:solidFill>
              </a:rPr>
              <a:t> PRESENTED BY :</a:t>
            </a:r>
          </a:p>
          <a:p>
            <a:pPr algn="ctr"/>
            <a:endParaRPr lang="en-US" sz="800" dirty="0"/>
          </a:p>
          <a:p>
            <a:pPr marL="0" indent="0" algn="ctr">
              <a:buNone/>
            </a:pPr>
            <a:r>
              <a:rPr lang="en-US" sz="2000" dirty="0">
                <a:solidFill>
                  <a:schemeClr val="bg1"/>
                </a:solidFill>
              </a:rPr>
              <a:t>SHAIKH SAAIEM SALAAR</a:t>
            </a:r>
          </a:p>
          <a:p>
            <a:pPr marL="0" indent="0" algn="ctr">
              <a:buNone/>
            </a:pPr>
            <a:r>
              <a:rPr lang="en-US" sz="2000" dirty="0">
                <a:solidFill>
                  <a:schemeClr val="bg1"/>
                </a:solidFill>
              </a:rPr>
              <a:t>KUMAYL SAYED </a:t>
            </a:r>
          </a:p>
          <a:p>
            <a:pPr marL="0" indent="0" algn="ctr">
              <a:buNone/>
            </a:pPr>
            <a:r>
              <a:rPr lang="en-US" sz="2000" dirty="0">
                <a:solidFill>
                  <a:schemeClr val="bg1"/>
                </a:solidFill>
              </a:rPr>
              <a:t>Altamash </a:t>
            </a:r>
            <a:r>
              <a:rPr lang="en-US" sz="2000" dirty="0" err="1">
                <a:solidFill>
                  <a:schemeClr val="bg1"/>
                </a:solidFill>
              </a:rPr>
              <a:t>Shamoil</a:t>
            </a:r>
            <a:endParaRPr lang="en-US" sz="2000" dirty="0">
              <a:solidFill>
                <a:schemeClr val="bg1"/>
              </a:solidFill>
            </a:endParaRPr>
          </a:p>
        </p:txBody>
      </p:sp>
    </p:spTree>
    <p:extLst>
      <p:ext uri="{BB962C8B-B14F-4D97-AF65-F5344CB8AC3E}">
        <p14:creationId xmlns:p14="http://schemas.microsoft.com/office/powerpoint/2010/main" val="30838904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00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298</TotalTime>
  <Words>1436</Words>
  <Application>Microsoft Office PowerPoint</Application>
  <PresentationFormat>Widescreen</PresentationFormat>
  <Paragraphs>151</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Aerial</vt:lpstr>
      <vt:lpstr>Aharoni</vt:lpstr>
      <vt:lpstr>Aptos Display</vt:lpstr>
      <vt:lpstr>Arial</vt:lpstr>
      <vt:lpstr>Calibri</vt:lpstr>
      <vt:lpstr>Calibri Light</vt:lpstr>
      <vt:lpstr>Times New Roman</vt:lpstr>
      <vt:lpstr>Wingdings</vt:lpstr>
      <vt:lpstr>Office Theme</vt:lpstr>
      <vt:lpstr>PowerPoint Presentation</vt:lpstr>
      <vt:lpstr>Outline</vt:lpstr>
      <vt:lpstr>INTRODUCTION</vt:lpstr>
      <vt:lpstr>Problem Statement </vt:lpstr>
      <vt:lpstr>Summary of Work Done</vt:lpstr>
      <vt:lpstr>Summary of Work Done</vt:lpstr>
      <vt:lpstr>Proposed Framework</vt:lpstr>
      <vt:lpstr>Proposed Framework</vt:lpstr>
      <vt:lpstr>Methodology</vt:lpstr>
      <vt:lpstr>Methodology</vt:lpstr>
      <vt:lpstr>Results</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Mehek Qureshi</dc:creator>
  <cp:lastModifiedBy>. aar5ess .</cp:lastModifiedBy>
  <cp:revision>15</cp:revision>
  <dcterms:created xsi:type="dcterms:W3CDTF">2025-10-06T08:40:26Z</dcterms:created>
  <dcterms:modified xsi:type="dcterms:W3CDTF">2026-02-26T08:37:02Z</dcterms:modified>
</cp:coreProperties>
</file>